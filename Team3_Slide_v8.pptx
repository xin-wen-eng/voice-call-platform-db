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63.xml" ContentType="application/vnd.openxmlformats-officedocument.presentationml.tags+xml"/>
  <Override PartName="/ppt/notesSlides/notesSlide5.xml" ContentType="application/vnd.openxmlformats-officedocument.presentationml.notesSlide+xml"/>
  <Override PartName="/ppt/tags/tag64.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9" r:id="rId2"/>
    <p:sldId id="260" r:id="rId3"/>
    <p:sldId id="265" r:id="rId4"/>
    <p:sldId id="264" r:id="rId5"/>
    <p:sldId id="261" r:id="rId6"/>
    <p:sldId id="262" r:id="rId7"/>
    <p:sldId id="270" r:id="rId8"/>
    <p:sldId id="271" r:id="rId9"/>
    <p:sldId id="272" r:id="rId10"/>
    <p:sldId id="273" r:id="rId11"/>
    <p:sldId id="274" r:id="rId12"/>
    <p:sldId id="257" r:id="rId13"/>
    <p:sldId id="269" r:id="rId14"/>
    <p:sldId id="268" r:id="rId15"/>
    <p:sldId id="275"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737" autoAdjust="0"/>
    <p:restoredTop sz="94660"/>
  </p:normalViewPr>
  <p:slideViewPr>
    <p:cSldViewPr snapToGrid="0" showGuides="1">
      <p:cViewPr varScale="1">
        <p:scale>
          <a:sx n="102" d="100"/>
          <a:sy n="102" d="100"/>
        </p:scale>
        <p:origin x="208" y="576"/>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C2CFB9E-F354-4297-BA99-685FE8FD4248}"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264DC032-3823-4451-9026-92A5574EDA75}">
      <dgm:prSet/>
      <dgm:spPr/>
      <dgm:t>
        <a:bodyPr/>
        <a:lstStyle/>
        <a:p>
          <a:pPr>
            <a:lnSpc>
              <a:spcPct val="100000"/>
            </a:lnSpc>
          </a:pPr>
          <a:r>
            <a:rPr lang="en-US" baseline="0" dirty="0">
              <a:latin typeface="Times New Roman" panose="02020603050405020304" pitchFamily="18" charset="0"/>
              <a:cs typeface="Times New Roman" panose="02020603050405020304" pitchFamily="18" charset="0"/>
            </a:rPr>
            <a:t>Room-based voice interaction system</a:t>
          </a:r>
          <a:endParaRPr lang="en-US" dirty="0">
            <a:latin typeface="Times New Roman" panose="02020603050405020304" pitchFamily="18" charset="0"/>
            <a:cs typeface="Times New Roman" panose="02020603050405020304" pitchFamily="18" charset="0"/>
          </a:endParaRPr>
        </a:p>
      </dgm:t>
    </dgm:pt>
    <dgm:pt modelId="{D2666B31-B4F7-4031-A7B5-70EF0DA51AE4}" type="parTrans" cxnId="{EF500379-9742-4428-B220-C6EAADD8F66B}">
      <dgm:prSet/>
      <dgm:spPr/>
      <dgm:t>
        <a:bodyPr/>
        <a:lstStyle/>
        <a:p>
          <a:endParaRPr lang="en-US"/>
        </a:p>
      </dgm:t>
    </dgm:pt>
    <dgm:pt modelId="{9C9AC88B-7F9B-4199-A849-AEFD5CEE7778}" type="sibTrans" cxnId="{EF500379-9742-4428-B220-C6EAADD8F66B}">
      <dgm:prSet/>
      <dgm:spPr/>
      <dgm:t>
        <a:bodyPr/>
        <a:lstStyle/>
        <a:p>
          <a:endParaRPr lang="en-US"/>
        </a:p>
      </dgm:t>
    </dgm:pt>
    <dgm:pt modelId="{88A18979-0603-4D91-BC16-57BC81351E31}">
      <dgm:prSet/>
      <dgm:spPr/>
      <dgm:t>
        <a:bodyPr/>
        <a:lstStyle/>
        <a:p>
          <a:pPr>
            <a:lnSpc>
              <a:spcPct val="100000"/>
            </a:lnSpc>
          </a:pPr>
          <a:r>
            <a:rPr lang="en-US" baseline="0" dirty="0">
              <a:latin typeface="Times New Roman" panose="02020603050405020304" pitchFamily="18" charset="0"/>
              <a:cs typeface="Times New Roman" panose="02020603050405020304" pitchFamily="18" charset="0"/>
            </a:rPr>
            <a:t>Supports users, providers, and calls</a:t>
          </a:r>
          <a:endParaRPr lang="en-US" dirty="0">
            <a:latin typeface="Times New Roman" panose="02020603050405020304" pitchFamily="18" charset="0"/>
            <a:cs typeface="Times New Roman" panose="02020603050405020304" pitchFamily="18" charset="0"/>
          </a:endParaRPr>
        </a:p>
      </dgm:t>
    </dgm:pt>
    <dgm:pt modelId="{B79CA020-107B-41D3-90A1-BBBFEC5184BD}" type="parTrans" cxnId="{CA8D7BF7-8D22-4628-9C50-EE82B92D41CE}">
      <dgm:prSet/>
      <dgm:spPr/>
      <dgm:t>
        <a:bodyPr/>
        <a:lstStyle/>
        <a:p>
          <a:endParaRPr lang="en-US"/>
        </a:p>
      </dgm:t>
    </dgm:pt>
    <dgm:pt modelId="{AC3A80E7-5A32-49AC-9F81-10B9DDBD051E}" type="sibTrans" cxnId="{CA8D7BF7-8D22-4628-9C50-EE82B92D41CE}">
      <dgm:prSet/>
      <dgm:spPr/>
      <dgm:t>
        <a:bodyPr/>
        <a:lstStyle/>
        <a:p>
          <a:endParaRPr lang="en-US"/>
        </a:p>
      </dgm:t>
    </dgm:pt>
    <dgm:pt modelId="{94070FD3-13CA-42EC-94DB-3BEDA2DBE8CA}">
      <dgm:prSet/>
      <dgm:spPr/>
      <dgm:t>
        <a:bodyPr/>
        <a:lstStyle/>
        <a:p>
          <a:pPr>
            <a:lnSpc>
              <a:spcPct val="100000"/>
            </a:lnSpc>
          </a:pPr>
          <a:r>
            <a:rPr lang="en-US" dirty="0">
              <a:latin typeface="Times New Roman" panose="02020603050405020304" pitchFamily="18" charset="0"/>
              <a:cs typeface="Times New Roman" panose="02020603050405020304" pitchFamily="18" charset="0"/>
            </a:rPr>
            <a:t>Tracks sessions, messaging, and payments</a:t>
          </a:r>
        </a:p>
      </dgm:t>
    </dgm:pt>
    <dgm:pt modelId="{6D74238C-7CA2-404F-B3C3-4C2678E8E1C8}" type="parTrans" cxnId="{21861A1C-8FF8-4CD1-879B-489B20BE8BC1}">
      <dgm:prSet/>
      <dgm:spPr/>
      <dgm:t>
        <a:bodyPr/>
        <a:lstStyle/>
        <a:p>
          <a:endParaRPr lang="en-US"/>
        </a:p>
      </dgm:t>
    </dgm:pt>
    <dgm:pt modelId="{12271821-EEBB-4E12-B4CA-00ADDF3E890E}" type="sibTrans" cxnId="{21861A1C-8FF8-4CD1-879B-489B20BE8BC1}">
      <dgm:prSet/>
      <dgm:spPr/>
      <dgm:t>
        <a:bodyPr/>
        <a:lstStyle/>
        <a:p>
          <a:endParaRPr lang="en-US"/>
        </a:p>
      </dgm:t>
    </dgm:pt>
    <dgm:pt modelId="{FD3A55A5-3305-4349-87E4-7AADF2DC60C7}">
      <dgm:prSet/>
      <dgm:spPr/>
      <dgm:t>
        <a:bodyPr/>
        <a:lstStyle/>
        <a:p>
          <a:pPr>
            <a:lnSpc>
              <a:spcPct val="100000"/>
            </a:lnSpc>
          </a:pPr>
          <a:r>
            <a:rPr lang="en-US" dirty="0">
              <a:latin typeface="Times New Roman" panose="02020603050405020304" pitchFamily="18" charset="0"/>
              <a:cs typeface="Times New Roman" panose="02020603050405020304" pitchFamily="18" charset="0"/>
            </a:rPr>
            <a:t>Enables structured reporting and analytics</a:t>
          </a:r>
        </a:p>
      </dgm:t>
    </dgm:pt>
    <dgm:pt modelId="{42303EBE-6969-B74C-81F3-F3055B0F8AEE}" type="parTrans" cxnId="{88A34446-B986-8443-9EE3-71FBB1A3B7C9}">
      <dgm:prSet/>
      <dgm:spPr/>
      <dgm:t>
        <a:bodyPr/>
        <a:lstStyle/>
        <a:p>
          <a:endParaRPr lang="en-US"/>
        </a:p>
      </dgm:t>
    </dgm:pt>
    <dgm:pt modelId="{4713BBA6-AF32-8840-9098-EA17FA8C8861}" type="sibTrans" cxnId="{88A34446-B986-8443-9EE3-71FBB1A3B7C9}">
      <dgm:prSet/>
      <dgm:spPr/>
      <dgm:t>
        <a:bodyPr/>
        <a:lstStyle/>
        <a:p>
          <a:endParaRPr lang="en-US"/>
        </a:p>
      </dgm:t>
    </dgm:pt>
    <dgm:pt modelId="{5C358E7D-FCD2-40E2-804C-1F8B0A40CA03}" type="pres">
      <dgm:prSet presAssocID="{0C2CFB9E-F354-4297-BA99-685FE8FD4248}" presName="root" presStyleCnt="0">
        <dgm:presLayoutVars>
          <dgm:dir/>
          <dgm:resizeHandles val="exact"/>
        </dgm:presLayoutVars>
      </dgm:prSet>
      <dgm:spPr/>
    </dgm:pt>
    <dgm:pt modelId="{8CF74510-39F7-4E6C-8D8F-AA8FCBD5EC49}" type="pres">
      <dgm:prSet presAssocID="{264DC032-3823-4451-9026-92A5574EDA75}" presName="compNode" presStyleCnt="0"/>
      <dgm:spPr/>
    </dgm:pt>
    <dgm:pt modelId="{828BD4A5-E1A4-4EFA-8584-186177B66E76}" type="pres">
      <dgm:prSet presAssocID="{264DC032-3823-4451-9026-92A5574EDA75}" presName="bgRect" presStyleLbl="bgShp" presStyleIdx="0" presStyleCnt="4"/>
      <dgm:spPr/>
    </dgm:pt>
    <dgm:pt modelId="{783B555F-AFB5-4A47-A121-105F5794640C}" type="pres">
      <dgm:prSet presAssocID="{264DC032-3823-4451-9026-92A5574EDA7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pt>
    <dgm:pt modelId="{3946CAB4-BCD3-45DB-9DB2-E71D51487D16}" type="pres">
      <dgm:prSet presAssocID="{264DC032-3823-4451-9026-92A5574EDA75}" presName="spaceRect" presStyleCnt="0"/>
      <dgm:spPr/>
    </dgm:pt>
    <dgm:pt modelId="{D77F3AF2-00A1-4F48-817C-1216DD7BC704}" type="pres">
      <dgm:prSet presAssocID="{264DC032-3823-4451-9026-92A5574EDA75}" presName="parTx" presStyleLbl="revTx" presStyleIdx="0" presStyleCnt="4">
        <dgm:presLayoutVars>
          <dgm:chMax val="0"/>
          <dgm:chPref val="0"/>
        </dgm:presLayoutVars>
      </dgm:prSet>
      <dgm:spPr/>
    </dgm:pt>
    <dgm:pt modelId="{9B8B92E8-3329-44E5-A172-CADC80C310E5}" type="pres">
      <dgm:prSet presAssocID="{9C9AC88B-7F9B-4199-A849-AEFD5CEE7778}" presName="sibTrans" presStyleCnt="0"/>
      <dgm:spPr/>
    </dgm:pt>
    <dgm:pt modelId="{921F7B91-A219-4028-B8AB-780134BCE3CB}" type="pres">
      <dgm:prSet presAssocID="{88A18979-0603-4D91-BC16-57BC81351E31}" presName="compNode" presStyleCnt="0"/>
      <dgm:spPr/>
    </dgm:pt>
    <dgm:pt modelId="{75C39E70-A4B4-4ADF-9D4C-BF4654D16DFC}" type="pres">
      <dgm:prSet presAssocID="{88A18979-0603-4D91-BC16-57BC81351E31}" presName="bgRect" presStyleLbl="bgShp" presStyleIdx="1" presStyleCnt="4"/>
      <dgm:spPr/>
    </dgm:pt>
    <dgm:pt modelId="{0B1EA1DB-2E12-4336-8B5F-F0A0A1706D60}" type="pres">
      <dgm:prSet presAssocID="{88A18979-0603-4D91-BC16-57BC81351E3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爬网"/>
        </a:ext>
      </dgm:extLst>
    </dgm:pt>
    <dgm:pt modelId="{58F73F18-4FD1-4C9A-831C-893151DC9B3A}" type="pres">
      <dgm:prSet presAssocID="{88A18979-0603-4D91-BC16-57BC81351E31}" presName="spaceRect" presStyleCnt="0"/>
      <dgm:spPr/>
    </dgm:pt>
    <dgm:pt modelId="{E33310B6-A4FB-4B3B-A919-C0B9CA6A93F6}" type="pres">
      <dgm:prSet presAssocID="{88A18979-0603-4D91-BC16-57BC81351E31}" presName="parTx" presStyleLbl="revTx" presStyleIdx="1" presStyleCnt="4">
        <dgm:presLayoutVars>
          <dgm:chMax val="0"/>
          <dgm:chPref val="0"/>
        </dgm:presLayoutVars>
      </dgm:prSet>
      <dgm:spPr/>
    </dgm:pt>
    <dgm:pt modelId="{B02F34CE-37B0-4388-9C86-51183FC1907A}" type="pres">
      <dgm:prSet presAssocID="{AC3A80E7-5A32-49AC-9F81-10B9DDBD051E}" presName="sibTrans" presStyleCnt="0"/>
      <dgm:spPr/>
    </dgm:pt>
    <dgm:pt modelId="{64516280-BBA0-47F0-B049-2DD53E20664C}" type="pres">
      <dgm:prSet presAssocID="{94070FD3-13CA-42EC-94DB-3BEDA2DBE8CA}" presName="compNode" presStyleCnt="0"/>
      <dgm:spPr/>
    </dgm:pt>
    <dgm:pt modelId="{146399D3-5FBB-403B-8F9A-6A771F334A61}" type="pres">
      <dgm:prSet presAssocID="{94070FD3-13CA-42EC-94DB-3BEDA2DBE8CA}" presName="bgRect" presStyleLbl="bgShp" presStyleIdx="2" presStyleCnt="4"/>
      <dgm:spPr/>
    </dgm:pt>
    <dgm:pt modelId="{B976B0CF-6770-4E2C-A5DC-50F68CD93773}" type="pres">
      <dgm:prSet presAssocID="{94070FD3-13CA-42EC-94DB-3BEDA2DBE8C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银行"/>
        </a:ext>
      </dgm:extLst>
    </dgm:pt>
    <dgm:pt modelId="{2ABC3FBB-46AF-46BD-84F6-BD0CE360227E}" type="pres">
      <dgm:prSet presAssocID="{94070FD3-13CA-42EC-94DB-3BEDA2DBE8CA}" presName="spaceRect" presStyleCnt="0"/>
      <dgm:spPr/>
    </dgm:pt>
    <dgm:pt modelId="{64271F6D-6334-4D55-AE28-EA56EDBC8B0D}" type="pres">
      <dgm:prSet presAssocID="{94070FD3-13CA-42EC-94DB-3BEDA2DBE8CA}" presName="parTx" presStyleLbl="revTx" presStyleIdx="2" presStyleCnt="4">
        <dgm:presLayoutVars>
          <dgm:chMax val="0"/>
          <dgm:chPref val="0"/>
        </dgm:presLayoutVars>
      </dgm:prSet>
      <dgm:spPr/>
    </dgm:pt>
    <dgm:pt modelId="{99ECE6F2-2930-2544-BD2B-FB0D0F9F1422}" type="pres">
      <dgm:prSet presAssocID="{12271821-EEBB-4E12-B4CA-00ADDF3E890E}" presName="sibTrans" presStyleCnt="0"/>
      <dgm:spPr/>
    </dgm:pt>
    <dgm:pt modelId="{9778D06D-8E8F-D54D-9815-3DFDB546ED7B}" type="pres">
      <dgm:prSet presAssocID="{FD3A55A5-3305-4349-87E4-7AADF2DC60C7}" presName="compNode" presStyleCnt="0"/>
      <dgm:spPr/>
    </dgm:pt>
    <dgm:pt modelId="{1BB1BF52-E046-094A-8167-8DC8175B10C8}" type="pres">
      <dgm:prSet presAssocID="{FD3A55A5-3305-4349-87E4-7AADF2DC60C7}" presName="bgRect" presStyleLbl="bgShp" presStyleIdx="3" presStyleCnt="4"/>
      <dgm:spPr/>
    </dgm:pt>
    <dgm:pt modelId="{BB9F7ED3-5607-B940-8C28-4B76C09F1496}" type="pres">
      <dgm:prSet presAssocID="{FD3A55A5-3305-4349-87E4-7AADF2DC60C7}" presName="iconRect" presStyleLbl="node1" presStyleIdx="3" presStyleCnt="4"/>
      <dgm:spPr/>
    </dgm:pt>
    <dgm:pt modelId="{4266528D-D2B6-4747-A847-3C7A6E9B49F6}" type="pres">
      <dgm:prSet presAssocID="{FD3A55A5-3305-4349-87E4-7AADF2DC60C7}" presName="spaceRect" presStyleCnt="0"/>
      <dgm:spPr/>
    </dgm:pt>
    <dgm:pt modelId="{60DA04A2-9AFE-7F41-B422-08524CA7F27A}" type="pres">
      <dgm:prSet presAssocID="{FD3A55A5-3305-4349-87E4-7AADF2DC60C7}" presName="parTx" presStyleLbl="revTx" presStyleIdx="3" presStyleCnt="4">
        <dgm:presLayoutVars>
          <dgm:chMax val="0"/>
          <dgm:chPref val="0"/>
        </dgm:presLayoutVars>
      </dgm:prSet>
      <dgm:spPr/>
    </dgm:pt>
  </dgm:ptLst>
  <dgm:cxnLst>
    <dgm:cxn modelId="{21861A1C-8FF8-4CD1-879B-489B20BE8BC1}" srcId="{0C2CFB9E-F354-4297-BA99-685FE8FD4248}" destId="{94070FD3-13CA-42EC-94DB-3BEDA2DBE8CA}" srcOrd="2" destOrd="0" parTransId="{6D74238C-7CA2-404F-B3C3-4C2678E8E1C8}" sibTransId="{12271821-EEBB-4E12-B4CA-00ADDF3E890E}"/>
    <dgm:cxn modelId="{88A34446-B986-8443-9EE3-71FBB1A3B7C9}" srcId="{0C2CFB9E-F354-4297-BA99-685FE8FD4248}" destId="{FD3A55A5-3305-4349-87E4-7AADF2DC60C7}" srcOrd="3" destOrd="0" parTransId="{42303EBE-6969-B74C-81F3-F3055B0F8AEE}" sibTransId="{4713BBA6-AF32-8840-9098-EA17FA8C8861}"/>
    <dgm:cxn modelId="{747CE373-860F-4252-A26A-BAF276B030FC}" type="presOf" srcId="{94070FD3-13CA-42EC-94DB-3BEDA2DBE8CA}" destId="{64271F6D-6334-4D55-AE28-EA56EDBC8B0D}" srcOrd="0" destOrd="0" presId="urn:microsoft.com/office/officeart/2018/2/layout/IconVerticalSolidList"/>
    <dgm:cxn modelId="{67846078-4881-4782-88E2-38B1C4FCD4FA}" type="presOf" srcId="{88A18979-0603-4D91-BC16-57BC81351E31}" destId="{E33310B6-A4FB-4B3B-A919-C0B9CA6A93F6}" srcOrd="0" destOrd="0" presId="urn:microsoft.com/office/officeart/2018/2/layout/IconVerticalSolidList"/>
    <dgm:cxn modelId="{EF500379-9742-4428-B220-C6EAADD8F66B}" srcId="{0C2CFB9E-F354-4297-BA99-685FE8FD4248}" destId="{264DC032-3823-4451-9026-92A5574EDA75}" srcOrd="0" destOrd="0" parTransId="{D2666B31-B4F7-4031-A7B5-70EF0DA51AE4}" sibTransId="{9C9AC88B-7F9B-4199-A849-AEFD5CEE7778}"/>
    <dgm:cxn modelId="{10FC19B6-9214-4354-B0DB-48FDA958B084}" type="presOf" srcId="{0C2CFB9E-F354-4297-BA99-685FE8FD4248}" destId="{5C358E7D-FCD2-40E2-804C-1F8B0A40CA03}" srcOrd="0" destOrd="0" presId="urn:microsoft.com/office/officeart/2018/2/layout/IconVerticalSolidList"/>
    <dgm:cxn modelId="{5F5109B9-5532-3147-B6E3-82C49C22A78D}" type="presOf" srcId="{FD3A55A5-3305-4349-87E4-7AADF2DC60C7}" destId="{60DA04A2-9AFE-7F41-B422-08524CA7F27A}" srcOrd="0" destOrd="0" presId="urn:microsoft.com/office/officeart/2018/2/layout/IconVerticalSolidList"/>
    <dgm:cxn modelId="{6FDBB4C5-2840-49D9-AD76-C26BA21AB046}" type="presOf" srcId="{264DC032-3823-4451-9026-92A5574EDA75}" destId="{D77F3AF2-00A1-4F48-817C-1216DD7BC704}" srcOrd="0" destOrd="0" presId="urn:microsoft.com/office/officeart/2018/2/layout/IconVerticalSolidList"/>
    <dgm:cxn modelId="{CA8D7BF7-8D22-4628-9C50-EE82B92D41CE}" srcId="{0C2CFB9E-F354-4297-BA99-685FE8FD4248}" destId="{88A18979-0603-4D91-BC16-57BC81351E31}" srcOrd="1" destOrd="0" parTransId="{B79CA020-107B-41D3-90A1-BBBFEC5184BD}" sibTransId="{AC3A80E7-5A32-49AC-9F81-10B9DDBD051E}"/>
    <dgm:cxn modelId="{8AE92D6F-FFE2-47C9-B02E-8C478A0C6BF3}" type="presParOf" srcId="{5C358E7D-FCD2-40E2-804C-1F8B0A40CA03}" destId="{8CF74510-39F7-4E6C-8D8F-AA8FCBD5EC49}" srcOrd="0" destOrd="0" presId="urn:microsoft.com/office/officeart/2018/2/layout/IconVerticalSolidList"/>
    <dgm:cxn modelId="{269DC037-711B-496F-B035-21B27DBED321}" type="presParOf" srcId="{8CF74510-39F7-4E6C-8D8F-AA8FCBD5EC49}" destId="{828BD4A5-E1A4-4EFA-8584-186177B66E76}" srcOrd="0" destOrd="0" presId="urn:microsoft.com/office/officeart/2018/2/layout/IconVerticalSolidList"/>
    <dgm:cxn modelId="{C907F4F3-F832-48AA-8413-1D8C06E940D1}" type="presParOf" srcId="{8CF74510-39F7-4E6C-8D8F-AA8FCBD5EC49}" destId="{783B555F-AFB5-4A47-A121-105F5794640C}" srcOrd="1" destOrd="0" presId="urn:microsoft.com/office/officeart/2018/2/layout/IconVerticalSolidList"/>
    <dgm:cxn modelId="{0E073513-EAD5-465A-9D15-4A8305F33720}" type="presParOf" srcId="{8CF74510-39F7-4E6C-8D8F-AA8FCBD5EC49}" destId="{3946CAB4-BCD3-45DB-9DB2-E71D51487D16}" srcOrd="2" destOrd="0" presId="urn:microsoft.com/office/officeart/2018/2/layout/IconVerticalSolidList"/>
    <dgm:cxn modelId="{6CCD2385-0092-4229-BB43-2CF284A84B3F}" type="presParOf" srcId="{8CF74510-39F7-4E6C-8D8F-AA8FCBD5EC49}" destId="{D77F3AF2-00A1-4F48-817C-1216DD7BC704}" srcOrd="3" destOrd="0" presId="urn:microsoft.com/office/officeart/2018/2/layout/IconVerticalSolidList"/>
    <dgm:cxn modelId="{907E7B79-337A-402F-9CAA-1EE29A077757}" type="presParOf" srcId="{5C358E7D-FCD2-40E2-804C-1F8B0A40CA03}" destId="{9B8B92E8-3329-44E5-A172-CADC80C310E5}" srcOrd="1" destOrd="0" presId="urn:microsoft.com/office/officeart/2018/2/layout/IconVerticalSolidList"/>
    <dgm:cxn modelId="{9F6CE191-4661-43AE-A67D-B4CF81B80446}" type="presParOf" srcId="{5C358E7D-FCD2-40E2-804C-1F8B0A40CA03}" destId="{921F7B91-A219-4028-B8AB-780134BCE3CB}" srcOrd="2" destOrd="0" presId="urn:microsoft.com/office/officeart/2018/2/layout/IconVerticalSolidList"/>
    <dgm:cxn modelId="{E7E61FCB-28B9-491A-BB87-B3A131E1E9E5}" type="presParOf" srcId="{921F7B91-A219-4028-B8AB-780134BCE3CB}" destId="{75C39E70-A4B4-4ADF-9D4C-BF4654D16DFC}" srcOrd="0" destOrd="0" presId="urn:microsoft.com/office/officeart/2018/2/layout/IconVerticalSolidList"/>
    <dgm:cxn modelId="{75ED9C31-F813-4B8F-9E80-94B96DB65681}" type="presParOf" srcId="{921F7B91-A219-4028-B8AB-780134BCE3CB}" destId="{0B1EA1DB-2E12-4336-8B5F-F0A0A1706D60}" srcOrd="1" destOrd="0" presId="urn:microsoft.com/office/officeart/2018/2/layout/IconVerticalSolidList"/>
    <dgm:cxn modelId="{CFEC46A8-C0FC-44A6-9D47-6824A6A80478}" type="presParOf" srcId="{921F7B91-A219-4028-B8AB-780134BCE3CB}" destId="{58F73F18-4FD1-4C9A-831C-893151DC9B3A}" srcOrd="2" destOrd="0" presId="urn:microsoft.com/office/officeart/2018/2/layout/IconVerticalSolidList"/>
    <dgm:cxn modelId="{9D5C9E61-94AD-4205-89A3-1BB62FBAB527}" type="presParOf" srcId="{921F7B91-A219-4028-B8AB-780134BCE3CB}" destId="{E33310B6-A4FB-4B3B-A919-C0B9CA6A93F6}" srcOrd="3" destOrd="0" presId="urn:microsoft.com/office/officeart/2018/2/layout/IconVerticalSolidList"/>
    <dgm:cxn modelId="{2AC0B1B2-FBDA-45E2-8B64-E8425B970FB5}" type="presParOf" srcId="{5C358E7D-FCD2-40E2-804C-1F8B0A40CA03}" destId="{B02F34CE-37B0-4388-9C86-51183FC1907A}" srcOrd="3" destOrd="0" presId="urn:microsoft.com/office/officeart/2018/2/layout/IconVerticalSolidList"/>
    <dgm:cxn modelId="{2C9B58D1-A258-49D1-BFB5-805D4528E1DC}" type="presParOf" srcId="{5C358E7D-FCD2-40E2-804C-1F8B0A40CA03}" destId="{64516280-BBA0-47F0-B049-2DD53E20664C}" srcOrd="4" destOrd="0" presId="urn:microsoft.com/office/officeart/2018/2/layout/IconVerticalSolidList"/>
    <dgm:cxn modelId="{8F337CEE-448C-407C-B254-4E1862C92BFB}" type="presParOf" srcId="{64516280-BBA0-47F0-B049-2DD53E20664C}" destId="{146399D3-5FBB-403B-8F9A-6A771F334A61}" srcOrd="0" destOrd="0" presId="urn:microsoft.com/office/officeart/2018/2/layout/IconVerticalSolidList"/>
    <dgm:cxn modelId="{C9D6FFAA-FA2F-4E00-B05B-93C31621186C}" type="presParOf" srcId="{64516280-BBA0-47F0-B049-2DD53E20664C}" destId="{B976B0CF-6770-4E2C-A5DC-50F68CD93773}" srcOrd="1" destOrd="0" presId="urn:microsoft.com/office/officeart/2018/2/layout/IconVerticalSolidList"/>
    <dgm:cxn modelId="{03D15CEF-32D3-4A54-922F-973345CEA944}" type="presParOf" srcId="{64516280-BBA0-47F0-B049-2DD53E20664C}" destId="{2ABC3FBB-46AF-46BD-84F6-BD0CE360227E}" srcOrd="2" destOrd="0" presId="urn:microsoft.com/office/officeart/2018/2/layout/IconVerticalSolidList"/>
    <dgm:cxn modelId="{469327A3-F049-4676-A2D2-0433D0585597}" type="presParOf" srcId="{64516280-BBA0-47F0-B049-2DD53E20664C}" destId="{64271F6D-6334-4D55-AE28-EA56EDBC8B0D}" srcOrd="3" destOrd="0" presId="urn:microsoft.com/office/officeart/2018/2/layout/IconVerticalSolidList"/>
    <dgm:cxn modelId="{B5EE37F9-47DC-C34A-AE1D-A3CB109084E4}" type="presParOf" srcId="{5C358E7D-FCD2-40E2-804C-1F8B0A40CA03}" destId="{99ECE6F2-2930-2544-BD2B-FB0D0F9F1422}" srcOrd="5" destOrd="0" presId="urn:microsoft.com/office/officeart/2018/2/layout/IconVerticalSolidList"/>
    <dgm:cxn modelId="{F122288B-EB6D-BB4E-9C09-751C89E964EE}" type="presParOf" srcId="{5C358E7D-FCD2-40E2-804C-1F8B0A40CA03}" destId="{9778D06D-8E8F-D54D-9815-3DFDB546ED7B}" srcOrd="6" destOrd="0" presId="urn:microsoft.com/office/officeart/2018/2/layout/IconVerticalSolidList"/>
    <dgm:cxn modelId="{B9285F6B-D332-BF42-8E05-662A1A13AD11}" type="presParOf" srcId="{9778D06D-8E8F-D54D-9815-3DFDB546ED7B}" destId="{1BB1BF52-E046-094A-8167-8DC8175B10C8}" srcOrd="0" destOrd="0" presId="urn:microsoft.com/office/officeart/2018/2/layout/IconVerticalSolidList"/>
    <dgm:cxn modelId="{0E4063D2-A514-114D-BD41-A12BA267B3E5}" type="presParOf" srcId="{9778D06D-8E8F-D54D-9815-3DFDB546ED7B}" destId="{BB9F7ED3-5607-B940-8C28-4B76C09F1496}" srcOrd="1" destOrd="0" presId="urn:microsoft.com/office/officeart/2018/2/layout/IconVerticalSolidList"/>
    <dgm:cxn modelId="{B58837C9-701E-A248-A4D9-8A1F6B6E4FA2}" type="presParOf" srcId="{9778D06D-8E8F-D54D-9815-3DFDB546ED7B}" destId="{4266528D-D2B6-4747-A847-3C7A6E9B49F6}" srcOrd="2" destOrd="0" presId="urn:microsoft.com/office/officeart/2018/2/layout/IconVerticalSolidList"/>
    <dgm:cxn modelId="{F26071ED-7699-4341-BCFA-2AA3EEACB617}" type="presParOf" srcId="{9778D06D-8E8F-D54D-9815-3DFDB546ED7B}" destId="{60DA04A2-9AFE-7F41-B422-08524CA7F27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2CFB9E-F354-4297-BA99-685FE8FD424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64DC032-3823-4451-9026-92A5574EDA75}">
      <dgm:prSet/>
      <dgm:spPr/>
      <dgm:t>
        <a:bodyPr/>
        <a:lstStyle/>
        <a:p>
          <a:pPr>
            <a:lnSpc>
              <a:spcPct val="100000"/>
            </a:lnSpc>
          </a:pPr>
          <a:r>
            <a:rPr lang="en-US" baseline="0" dirty="0">
              <a:latin typeface="Times New Roman" panose="02020603050405020304" pitchFamily="18" charset="0"/>
              <a:cs typeface="Times New Roman" panose="02020603050405020304" pitchFamily="18" charset="0"/>
            </a:rPr>
            <a:t>Real-time voice platforms are complex</a:t>
          </a:r>
          <a:endParaRPr lang="en-US" dirty="0">
            <a:latin typeface="Times New Roman" panose="02020603050405020304" pitchFamily="18" charset="0"/>
            <a:cs typeface="Times New Roman" panose="02020603050405020304" pitchFamily="18" charset="0"/>
          </a:endParaRPr>
        </a:p>
      </dgm:t>
    </dgm:pt>
    <dgm:pt modelId="{D2666B31-B4F7-4031-A7B5-70EF0DA51AE4}" type="parTrans" cxnId="{EF500379-9742-4428-B220-C6EAADD8F66B}">
      <dgm:prSet/>
      <dgm:spPr/>
      <dgm:t>
        <a:bodyPr/>
        <a:lstStyle/>
        <a:p>
          <a:endParaRPr lang="en-US"/>
        </a:p>
      </dgm:t>
    </dgm:pt>
    <dgm:pt modelId="{9C9AC88B-7F9B-4199-A849-AEFD5CEE7778}" type="sibTrans" cxnId="{EF500379-9742-4428-B220-C6EAADD8F66B}">
      <dgm:prSet/>
      <dgm:spPr/>
      <dgm:t>
        <a:bodyPr/>
        <a:lstStyle/>
        <a:p>
          <a:endParaRPr lang="en-US"/>
        </a:p>
      </dgm:t>
    </dgm:pt>
    <dgm:pt modelId="{88A18979-0603-4D91-BC16-57BC81351E31}">
      <dgm:prSet/>
      <dgm:spPr/>
      <dgm:t>
        <a:bodyPr/>
        <a:lstStyle/>
        <a:p>
          <a:pPr>
            <a:lnSpc>
              <a:spcPct val="100000"/>
            </a:lnSpc>
          </a:pPr>
          <a:r>
            <a:rPr lang="en-US" baseline="0" dirty="0">
              <a:latin typeface="Times New Roman" panose="02020603050405020304" pitchFamily="18" charset="0"/>
              <a:cs typeface="Times New Roman" panose="02020603050405020304" pitchFamily="18" charset="0"/>
            </a:rPr>
            <a:t>High-frequency interactions (messages, calls)</a:t>
          </a:r>
          <a:endParaRPr lang="en-US" dirty="0">
            <a:latin typeface="Times New Roman" panose="02020603050405020304" pitchFamily="18" charset="0"/>
            <a:cs typeface="Times New Roman" panose="02020603050405020304" pitchFamily="18" charset="0"/>
          </a:endParaRPr>
        </a:p>
      </dgm:t>
    </dgm:pt>
    <dgm:pt modelId="{B79CA020-107B-41D3-90A1-BBBFEC5184BD}" type="parTrans" cxnId="{CA8D7BF7-8D22-4628-9C50-EE82B92D41CE}">
      <dgm:prSet/>
      <dgm:spPr/>
      <dgm:t>
        <a:bodyPr/>
        <a:lstStyle/>
        <a:p>
          <a:endParaRPr lang="en-US"/>
        </a:p>
      </dgm:t>
    </dgm:pt>
    <dgm:pt modelId="{AC3A80E7-5A32-49AC-9F81-10B9DDBD051E}" type="sibTrans" cxnId="{CA8D7BF7-8D22-4628-9C50-EE82B92D41CE}">
      <dgm:prSet/>
      <dgm:spPr/>
      <dgm:t>
        <a:bodyPr/>
        <a:lstStyle/>
        <a:p>
          <a:endParaRPr lang="en-US"/>
        </a:p>
      </dgm:t>
    </dgm:pt>
    <dgm:pt modelId="{94070FD3-13CA-42EC-94DB-3BEDA2DBE8CA}">
      <dgm:prSet/>
      <dgm:spPr/>
      <dgm:t>
        <a:bodyPr/>
        <a:lstStyle/>
        <a:p>
          <a:pPr>
            <a:lnSpc>
              <a:spcPct val="100000"/>
            </a:lnSpc>
          </a:pPr>
          <a:r>
            <a:rPr lang="en-US" dirty="0">
              <a:latin typeface="Times New Roman" panose="02020603050405020304" pitchFamily="18" charset="0"/>
              <a:cs typeface="Times New Roman" panose="02020603050405020304" pitchFamily="18" charset="0"/>
            </a:rPr>
            <a:t>Need accurate tracking of calls and payments</a:t>
          </a:r>
        </a:p>
      </dgm:t>
    </dgm:pt>
    <dgm:pt modelId="{6D74238C-7CA2-404F-B3C3-4C2678E8E1C8}" type="parTrans" cxnId="{21861A1C-8FF8-4CD1-879B-489B20BE8BC1}">
      <dgm:prSet/>
      <dgm:spPr/>
      <dgm:t>
        <a:bodyPr/>
        <a:lstStyle/>
        <a:p>
          <a:endParaRPr lang="en-US"/>
        </a:p>
      </dgm:t>
    </dgm:pt>
    <dgm:pt modelId="{12271821-EEBB-4E12-B4CA-00ADDF3E890E}" type="sibTrans" cxnId="{21861A1C-8FF8-4CD1-879B-489B20BE8BC1}">
      <dgm:prSet/>
      <dgm:spPr/>
      <dgm:t>
        <a:bodyPr/>
        <a:lstStyle/>
        <a:p>
          <a:endParaRPr lang="en-US"/>
        </a:p>
      </dgm:t>
    </dgm:pt>
    <dgm:pt modelId="{FD3A55A5-3305-4349-87E4-7AADF2DC60C7}">
      <dgm:prSet/>
      <dgm:spPr/>
      <dgm:t>
        <a:bodyPr/>
        <a:lstStyle/>
        <a:p>
          <a:pPr>
            <a:lnSpc>
              <a:spcPct val="100000"/>
            </a:lnSpc>
          </a:pPr>
          <a:r>
            <a:rPr lang="en-US" dirty="0">
              <a:latin typeface="Times New Roman" panose="02020603050405020304" pitchFamily="18" charset="0"/>
              <a:cs typeface="Times New Roman" panose="02020603050405020304" pitchFamily="18" charset="0"/>
            </a:rPr>
            <a:t>Difficult to connect user activity with revenue</a:t>
          </a:r>
        </a:p>
      </dgm:t>
    </dgm:pt>
    <dgm:pt modelId="{42303EBE-6969-B74C-81F3-F3055B0F8AEE}" type="parTrans" cxnId="{88A34446-B986-8443-9EE3-71FBB1A3B7C9}">
      <dgm:prSet/>
      <dgm:spPr/>
      <dgm:t>
        <a:bodyPr/>
        <a:lstStyle/>
        <a:p>
          <a:endParaRPr lang="en-US"/>
        </a:p>
      </dgm:t>
    </dgm:pt>
    <dgm:pt modelId="{4713BBA6-AF32-8840-9098-EA17FA8C8861}" type="sibTrans" cxnId="{88A34446-B986-8443-9EE3-71FBB1A3B7C9}">
      <dgm:prSet/>
      <dgm:spPr/>
      <dgm:t>
        <a:bodyPr/>
        <a:lstStyle/>
        <a:p>
          <a:endParaRPr lang="en-US"/>
        </a:p>
      </dgm:t>
    </dgm:pt>
    <dgm:pt modelId="{5C358E7D-FCD2-40E2-804C-1F8B0A40CA03}" type="pres">
      <dgm:prSet presAssocID="{0C2CFB9E-F354-4297-BA99-685FE8FD4248}" presName="root" presStyleCnt="0">
        <dgm:presLayoutVars>
          <dgm:dir/>
          <dgm:resizeHandles val="exact"/>
        </dgm:presLayoutVars>
      </dgm:prSet>
      <dgm:spPr/>
    </dgm:pt>
    <dgm:pt modelId="{8CF74510-39F7-4E6C-8D8F-AA8FCBD5EC49}" type="pres">
      <dgm:prSet presAssocID="{264DC032-3823-4451-9026-92A5574EDA75}" presName="compNode" presStyleCnt="0"/>
      <dgm:spPr/>
    </dgm:pt>
    <dgm:pt modelId="{828BD4A5-E1A4-4EFA-8584-186177B66E76}" type="pres">
      <dgm:prSet presAssocID="{264DC032-3823-4451-9026-92A5574EDA75}" presName="bgRect" presStyleLbl="bgShp" presStyleIdx="0" presStyleCnt="4" custLinFactNeighborX="93687" custLinFactNeighborY="2570"/>
      <dgm:spPr/>
    </dgm:pt>
    <dgm:pt modelId="{783B555F-AFB5-4A47-A121-105F5794640C}" type="pres">
      <dgm:prSet presAssocID="{264DC032-3823-4451-9026-92A5574EDA7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筛选"/>
        </a:ext>
      </dgm:extLst>
    </dgm:pt>
    <dgm:pt modelId="{3946CAB4-BCD3-45DB-9DB2-E71D51487D16}" type="pres">
      <dgm:prSet presAssocID="{264DC032-3823-4451-9026-92A5574EDA75}" presName="spaceRect" presStyleCnt="0"/>
      <dgm:spPr/>
    </dgm:pt>
    <dgm:pt modelId="{D77F3AF2-00A1-4F48-817C-1216DD7BC704}" type="pres">
      <dgm:prSet presAssocID="{264DC032-3823-4451-9026-92A5574EDA75}" presName="parTx" presStyleLbl="revTx" presStyleIdx="0" presStyleCnt="4">
        <dgm:presLayoutVars>
          <dgm:chMax val="0"/>
          <dgm:chPref val="0"/>
        </dgm:presLayoutVars>
      </dgm:prSet>
      <dgm:spPr/>
    </dgm:pt>
    <dgm:pt modelId="{9B8B92E8-3329-44E5-A172-CADC80C310E5}" type="pres">
      <dgm:prSet presAssocID="{9C9AC88B-7F9B-4199-A849-AEFD5CEE7778}" presName="sibTrans" presStyleCnt="0"/>
      <dgm:spPr/>
    </dgm:pt>
    <dgm:pt modelId="{921F7B91-A219-4028-B8AB-780134BCE3CB}" type="pres">
      <dgm:prSet presAssocID="{88A18979-0603-4D91-BC16-57BC81351E31}" presName="compNode" presStyleCnt="0"/>
      <dgm:spPr/>
    </dgm:pt>
    <dgm:pt modelId="{75C39E70-A4B4-4ADF-9D4C-BF4654D16DFC}" type="pres">
      <dgm:prSet presAssocID="{88A18979-0603-4D91-BC16-57BC81351E31}" presName="bgRect" presStyleLbl="bgShp" presStyleIdx="1" presStyleCnt="4"/>
      <dgm:spPr/>
    </dgm:pt>
    <dgm:pt modelId="{0B1EA1DB-2E12-4336-8B5F-F0A0A1706D60}" type="pres">
      <dgm:prSet presAssocID="{88A18979-0603-4D91-BC16-57BC81351E3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爬网"/>
        </a:ext>
      </dgm:extLst>
    </dgm:pt>
    <dgm:pt modelId="{58F73F18-4FD1-4C9A-831C-893151DC9B3A}" type="pres">
      <dgm:prSet presAssocID="{88A18979-0603-4D91-BC16-57BC81351E31}" presName="spaceRect" presStyleCnt="0"/>
      <dgm:spPr/>
    </dgm:pt>
    <dgm:pt modelId="{E33310B6-A4FB-4B3B-A919-C0B9CA6A93F6}" type="pres">
      <dgm:prSet presAssocID="{88A18979-0603-4D91-BC16-57BC81351E31}" presName="parTx" presStyleLbl="revTx" presStyleIdx="1" presStyleCnt="4">
        <dgm:presLayoutVars>
          <dgm:chMax val="0"/>
          <dgm:chPref val="0"/>
        </dgm:presLayoutVars>
      </dgm:prSet>
      <dgm:spPr/>
    </dgm:pt>
    <dgm:pt modelId="{B02F34CE-37B0-4388-9C86-51183FC1907A}" type="pres">
      <dgm:prSet presAssocID="{AC3A80E7-5A32-49AC-9F81-10B9DDBD051E}" presName="sibTrans" presStyleCnt="0"/>
      <dgm:spPr/>
    </dgm:pt>
    <dgm:pt modelId="{64516280-BBA0-47F0-B049-2DD53E20664C}" type="pres">
      <dgm:prSet presAssocID="{94070FD3-13CA-42EC-94DB-3BEDA2DBE8CA}" presName="compNode" presStyleCnt="0"/>
      <dgm:spPr/>
    </dgm:pt>
    <dgm:pt modelId="{146399D3-5FBB-403B-8F9A-6A771F334A61}" type="pres">
      <dgm:prSet presAssocID="{94070FD3-13CA-42EC-94DB-3BEDA2DBE8CA}" presName="bgRect" presStyleLbl="bgShp" presStyleIdx="2" presStyleCnt="4"/>
      <dgm:spPr/>
    </dgm:pt>
    <dgm:pt modelId="{B976B0CF-6770-4E2C-A5DC-50F68CD93773}" type="pres">
      <dgm:prSet presAssocID="{94070FD3-13CA-42EC-94DB-3BEDA2DBE8C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银行"/>
        </a:ext>
      </dgm:extLst>
    </dgm:pt>
    <dgm:pt modelId="{2ABC3FBB-46AF-46BD-84F6-BD0CE360227E}" type="pres">
      <dgm:prSet presAssocID="{94070FD3-13CA-42EC-94DB-3BEDA2DBE8CA}" presName="spaceRect" presStyleCnt="0"/>
      <dgm:spPr/>
    </dgm:pt>
    <dgm:pt modelId="{64271F6D-6334-4D55-AE28-EA56EDBC8B0D}" type="pres">
      <dgm:prSet presAssocID="{94070FD3-13CA-42EC-94DB-3BEDA2DBE8CA}" presName="parTx" presStyleLbl="revTx" presStyleIdx="2" presStyleCnt="4">
        <dgm:presLayoutVars>
          <dgm:chMax val="0"/>
          <dgm:chPref val="0"/>
        </dgm:presLayoutVars>
      </dgm:prSet>
      <dgm:spPr/>
    </dgm:pt>
    <dgm:pt modelId="{99ECE6F2-2930-2544-BD2B-FB0D0F9F1422}" type="pres">
      <dgm:prSet presAssocID="{12271821-EEBB-4E12-B4CA-00ADDF3E890E}" presName="sibTrans" presStyleCnt="0"/>
      <dgm:spPr/>
    </dgm:pt>
    <dgm:pt modelId="{9778D06D-8E8F-D54D-9815-3DFDB546ED7B}" type="pres">
      <dgm:prSet presAssocID="{FD3A55A5-3305-4349-87E4-7AADF2DC60C7}" presName="compNode" presStyleCnt="0"/>
      <dgm:spPr/>
    </dgm:pt>
    <dgm:pt modelId="{1BB1BF52-E046-094A-8167-8DC8175B10C8}" type="pres">
      <dgm:prSet presAssocID="{FD3A55A5-3305-4349-87E4-7AADF2DC60C7}" presName="bgRect" presStyleLbl="bgShp" presStyleIdx="3" presStyleCnt="4"/>
      <dgm:spPr/>
    </dgm:pt>
    <dgm:pt modelId="{BB9F7ED3-5607-B940-8C28-4B76C09F1496}" type="pres">
      <dgm:prSet presAssocID="{FD3A55A5-3305-4349-87E4-7AADF2DC60C7}" presName="iconRect" presStyleLbl="node1" presStyleIdx="3" presStyleCnt="4"/>
      <dgm:spPr/>
    </dgm:pt>
    <dgm:pt modelId="{4266528D-D2B6-4747-A847-3C7A6E9B49F6}" type="pres">
      <dgm:prSet presAssocID="{FD3A55A5-3305-4349-87E4-7AADF2DC60C7}" presName="spaceRect" presStyleCnt="0"/>
      <dgm:spPr/>
    </dgm:pt>
    <dgm:pt modelId="{60DA04A2-9AFE-7F41-B422-08524CA7F27A}" type="pres">
      <dgm:prSet presAssocID="{FD3A55A5-3305-4349-87E4-7AADF2DC60C7}" presName="parTx" presStyleLbl="revTx" presStyleIdx="3" presStyleCnt="4">
        <dgm:presLayoutVars>
          <dgm:chMax val="0"/>
          <dgm:chPref val="0"/>
        </dgm:presLayoutVars>
      </dgm:prSet>
      <dgm:spPr/>
    </dgm:pt>
  </dgm:ptLst>
  <dgm:cxnLst>
    <dgm:cxn modelId="{21861A1C-8FF8-4CD1-879B-489B20BE8BC1}" srcId="{0C2CFB9E-F354-4297-BA99-685FE8FD4248}" destId="{94070FD3-13CA-42EC-94DB-3BEDA2DBE8CA}" srcOrd="2" destOrd="0" parTransId="{6D74238C-7CA2-404F-B3C3-4C2678E8E1C8}" sibTransId="{12271821-EEBB-4E12-B4CA-00ADDF3E890E}"/>
    <dgm:cxn modelId="{88A34446-B986-8443-9EE3-71FBB1A3B7C9}" srcId="{0C2CFB9E-F354-4297-BA99-685FE8FD4248}" destId="{FD3A55A5-3305-4349-87E4-7AADF2DC60C7}" srcOrd="3" destOrd="0" parTransId="{42303EBE-6969-B74C-81F3-F3055B0F8AEE}" sibTransId="{4713BBA6-AF32-8840-9098-EA17FA8C8861}"/>
    <dgm:cxn modelId="{747CE373-860F-4252-A26A-BAF276B030FC}" type="presOf" srcId="{94070FD3-13CA-42EC-94DB-3BEDA2DBE8CA}" destId="{64271F6D-6334-4D55-AE28-EA56EDBC8B0D}" srcOrd="0" destOrd="0" presId="urn:microsoft.com/office/officeart/2018/2/layout/IconVerticalSolidList"/>
    <dgm:cxn modelId="{67846078-4881-4782-88E2-38B1C4FCD4FA}" type="presOf" srcId="{88A18979-0603-4D91-BC16-57BC81351E31}" destId="{E33310B6-A4FB-4B3B-A919-C0B9CA6A93F6}" srcOrd="0" destOrd="0" presId="urn:microsoft.com/office/officeart/2018/2/layout/IconVerticalSolidList"/>
    <dgm:cxn modelId="{EF500379-9742-4428-B220-C6EAADD8F66B}" srcId="{0C2CFB9E-F354-4297-BA99-685FE8FD4248}" destId="{264DC032-3823-4451-9026-92A5574EDA75}" srcOrd="0" destOrd="0" parTransId="{D2666B31-B4F7-4031-A7B5-70EF0DA51AE4}" sibTransId="{9C9AC88B-7F9B-4199-A849-AEFD5CEE7778}"/>
    <dgm:cxn modelId="{10FC19B6-9214-4354-B0DB-48FDA958B084}" type="presOf" srcId="{0C2CFB9E-F354-4297-BA99-685FE8FD4248}" destId="{5C358E7D-FCD2-40E2-804C-1F8B0A40CA03}" srcOrd="0" destOrd="0" presId="urn:microsoft.com/office/officeart/2018/2/layout/IconVerticalSolidList"/>
    <dgm:cxn modelId="{5F5109B9-5532-3147-B6E3-82C49C22A78D}" type="presOf" srcId="{FD3A55A5-3305-4349-87E4-7AADF2DC60C7}" destId="{60DA04A2-9AFE-7F41-B422-08524CA7F27A}" srcOrd="0" destOrd="0" presId="urn:microsoft.com/office/officeart/2018/2/layout/IconVerticalSolidList"/>
    <dgm:cxn modelId="{6FDBB4C5-2840-49D9-AD76-C26BA21AB046}" type="presOf" srcId="{264DC032-3823-4451-9026-92A5574EDA75}" destId="{D77F3AF2-00A1-4F48-817C-1216DD7BC704}" srcOrd="0" destOrd="0" presId="urn:microsoft.com/office/officeart/2018/2/layout/IconVerticalSolidList"/>
    <dgm:cxn modelId="{CA8D7BF7-8D22-4628-9C50-EE82B92D41CE}" srcId="{0C2CFB9E-F354-4297-BA99-685FE8FD4248}" destId="{88A18979-0603-4D91-BC16-57BC81351E31}" srcOrd="1" destOrd="0" parTransId="{B79CA020-107B-41D3-90A1-BBBFEC5184BD}" sibTransId="{AC3A80E7-5A32-49AC-9F81-10B9DDBD051E}"/>
    <dgm:cxn modelId="{8AE92D6F-FFE2-47C9-B02E-8C478A0C6BF3}" type="presParOf" srcId="{5C358E7D-FCD2-40E2-804C-1F8B0A40CA03}" destId="{8CF74510-39F7-4E6C-8D8F-AA8FCBD5EC49}" srcOrd="0" destOrd="0" presId="urn:microsoft.com/office/officeart/2018/2/layout/IconVerticalSolidList"/>
    <dgm:cxn modelId="{269DC037-711B-496F-B035-21B27DBED321}" type="presParOf" srcId="{8CF74510-39F7-4E6C-8D8F-AA8FCBD5EC49}" destId="{828BD4A5-E1A4-4EFA-8584-186177B66E76}" srcOrd="0" destOrd="0" presId="urn:microsoft.com/office/officeart/2018/2/layout/IconVerticalSolidList"/>
    <dgm:cxn modelId="{C907F4F3-F832-48AA-8413-1D8C06E940D1}" type="presParOf" srcId="{8CF74510-39F7-4E6C-8D8F-AA8FCBD5EC49}" destId="{783B555F-AFB5-4A47-A121-105F5794640C}" srcOrd="1" destOrd="0" presId="urn:microsoft.com/office/officeart/2018/2/layout/IconVerticalSolidList"/>
    <dgm:cxn modelId="{0E073513-EAD5-465A-9D15-4A8305F33720}" type="presParOf" srcId="{8CF74510-39F7-4E6C-8D8F-AA8FCBD5EC49}" destId="{3946CAB4-BCD3-45DB-9DB2-E71D51487D16}" srcOrd="2" destOrd="0" presId="urn:microsoft.com/office/officeart/2018/2/layout/IconVerticalSolidList"/>
    <dgm:cxn modelId="{6CCD2385-0092-4229-BB43-2CF284A84B3F}" type="presParOf" srcId="{8CF74510-39F7-4E6C-8D8F-AA8FCBD5EC49}" destId="{D77F3AF2-00A1-4F48-817C-1216DD7BC704}" srcOrd="3" destOrd="0" presId="urn:microsoft.com/office/officeart/2018/2/layout/IconVerticalSolidList"/>
    <dgm:cxn modelId="{907E7B79-337A-402F-9CAA-1EE29A077757}" type="presParOf" srcId="{5C358E7D-FCD2-40E2-804C-1F8B0A40CA03}" destId="{9B8B92E8-3329-44E5-A172-CADC80C310E5}" srcOrd="1" destOrd="0" presId="urn:microsoft.com/office/officeart/2018/2/layout/IconVerticalSolidList"/>
    <dgm:cxn modelId="{9F6CE191-4661-43AE-A67D-B4CF81B80446}" type="presParOf" srcId="{5C358E7D-FCD2-40E2-804C-1F8B0A40CA03}" destId="{921F7B91-A219-4028-B8AB-780134BCE3CB}" srcOrd="2" destOrd="0" presId="urn:microsoft.com/office/officeart/2018/2/layout/IconVerticalSolidList"/>
    <dgm:cxn modelId="{E7E61FCB-28B9-491A-BB87-B3A131E1E9E5}" type="presParOf" srcId="{921F7B91-A219-4028-B8AB-780134BCE3CB}" destId="{75C39E70-A4B4-4ADF-9D4C-BF4654D16DFC}" srcOrd="0" destOrd="0" presId="urn:microsoft.com/office/officeart/2018/2/layout/IconVerticalSolidList"/>
    <dgm:cxn modelId="{75ED9C31-F813-4B8F-9E80-94B96DB65681}" type="presParOf" srcId="{921F7B91-A219-4028-B8AB-780134BCE3CB}" destId="{0B1EA1DB-2E12-4336-8B5F-F0A0A1706D60}" srcOrd="1" destOrd="0" presId="urn:microsoft.com/office/officeart/2018/2/layout/IconVerticalSolidList"/>
    <dgm:cxn modelId="{CFEC46A8-C0FC-44A6-9D47-6824A6A80478}" type="presParOf" srcId="{921F7B91-A219-4028-B8AB-780134BCE3CB}" destId="{58F73F18-4FD1-4C9A-831C-893151DC9B3A}" srcOrd="2" destOrd="0" presId="urn:microsoft.com/office/officeart/2018/2/layout/IconVerticalSolidList"/>
    <dgm:cxn modelId="{9D5C9E61-94AD-4205-89A3-1BB62FBAB527}" type="presParOf" srcId="{921F7B91-A219-4028-B8AB-780134BCE3CB}" destId="{E33310B6-A4FB-4B3B-A919-C0B9CA6A93F6}" srcOrd="3" destOrd="0" presId="urn:microsoft.com/office/officeart/2018/2/layout/IconVerticalSolidList"/>
    <dgm:cxn modelId="{2AC0B1B2-FBDA-45E2-8B64-E8425B970FB5}" type="presParOf" srcId="{5C358E7D-FCD2-40E2-804C-1F8B0A40CA03}" destId="{B02F34CE-37B0-4388-9C86-51183FC1907A}" srcOrd="3" destOrd="0" presId="urn:microsoft.com/office/officeart/2018/2/layout/IconVerticalSolidList"/>
    <dgm:cxn modelId="{2C9B58D1-A258-49D1-BFB5-805D4528E1DC}" type="presParOf" srcId="{5C358E7D-FCD2-40E2-804C-1F8B0A40CA03}" destId="{64516280-BBA0-47F0-B049-2DD53E20664C}" srcOrd="4" destOrd="0" presId="urn:microsoft.com/office/officeart/2018/2/layout/IconVerticalSolidList"/>
    <dgm:cxn modelId="{8F337CEE-448C-407C-B254-4E1862C92BFB}" type="presParOf" srcId="{64516280-BBA0-47F0-B049-2DD53E20664C}" destId="{146399D3-5FBB-403B-8F9A-6A771F334A61}" srcOrd="0" destOrd="0" presId="urn:microsoft.com/office/officeart/2018/2/layout/IconVerticalSolidList"/>
    <dgm:cxn modelId="{C9D6FFAA-FA2F-4E00-B05B-93C31621186C}" type="presParOf" srcId="{64516280-BBA0-47F0-B049-2DD53E20664C}" destId="{B976B0CF-6770-4E2C-A5DC-50F68CD93773}" srcOrd="1" destOrd="0" presId="urn:microsoft.com/office/officeart/2018/2/layout/IconVerticalSolidList"/>
    <dgm:cxn modelId="{03D15CEF-32D3-4A54-922F-973345CEA944}" type="presParOf" srcId="{64516280-BBA0-47F0-B049-2DD53E20664C}" destId="{2ABC3FBB-46AF-46BD-84F6-BD0CE360227E}" srcOrd="2" destOrd="0" presId="urn:microsoft.com/office/officeart/2018/2/layout/IconVerticalSolidList"/>
    <dgm:cxn modelId="{469327A3-F049-4676-A2D2-0433D0585597}" type="presParOf" srcId="{64516280-BBA0-47F0-B049-2DD53E20664C}" destId="{64271F6D-6334-4D55-AE28-EA56EDBC8B0D}" srcOrd="3" destOrd="0" presId="urn:microsoft.com/office/officeart/2018/2/layout/IconVerticalSolidList"/>
    <dgm:cxn modelId="{B5EE37F9-47DC-C34A-AE1D-A3CB109084E4}" type="presParOf" srcId="{5C358E7D-FCD2-40E2-804C-1F8B0A40CA03}" destId="{99ECE6F2-2930-2544-BD2B-FB0D0F9F1422}" srcOrd="5" destOrd="0" presId="urn:microsoft.com/office/officeart/2018/2/layout/IconVerticalSolidList"/>
    <dgm:cxn modelId="{F122288B-EB6D-BB4E-9C09-751C89E964EE}" type="presParOf" srcId="{5C358E7D-FCD2-40E2-804C-1F8B0A40CA03}" destId="{9778D06D-8E8F-D54D-9815-3DFDB546ED7B}" srcOrd="6" destOrd="0" presId="urn:microsoft.com/office/officeart/2018/2/layout/IconVerticalSolidList"/>
    <dgm:cxn modelId="{B9285F6B-D332-BF42-8E05-662A1A13AD11}" type="presParOf" srcId="{9778D06D-8E8F-D54D-9815-3DFDB546ED7B}" destId="{1BB1BF52-E046-094A-8167-8DC8175B10C8}" srcOrd="0" destOrd="0" presId="urn:microsoft.com/office/officeart/2018/2/layout/IconVerticalSolidList"/>
    <dgm:cxn modelId="{0E4063D2-A514-114D-BD41-A12BA267B3E5}" type="presParOf" srcId="{9778D06D-8E8F-D54D-9815-3DFDB546ED7B}" destId="{BB9F7ED3-5607-B940-8C28-4B76C09F1496}" srcOrd="1" destOrd="0" presId="urn:microsoft.com/office/officeart/2018/2/layout/IconVerticalSolidList"/>
    <dgm:cxn modelId="{B58837C9-701E-A248-A4D9-8A1F6B6E4FA2}" type="presParOf" srcId="{9778D06D-8E8F-D54D-9815-3DFDB546ED7B}" destId="{4266528D-D2B6-4747-A847-3C7A6E9B49F6}" srcOrd="2" destOrd="0" presId="urn:microsoft.com/office/officeart/2018/2/layout/IconVerticalSolidList"/>
    <dgm:cxn modelId="{F26071ED-7699-4341-BCFA-2AA3EEACB617}" type="presParOf" srcId="{9778D06D-8E8F-D54D-9815-3DFDB546ED7B}" destId="{60DA04A2-9AFE-7F41-B422-08524CA7F27A}" srcOrd="3" destOrd="0" presId="urn:microsoft.com/office/officeart/2018/2/layout/IconVerticalSoli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8BD4A5-E1A4-4EFA-8584-186177B66E76}">
      <dsp:nvSpPr>
        <dsp:cNvPr id="0" name=""/>
        <dsp:cNvSpPr/>
      </dsp:nvSpPr>
      <dsp:spPr>
        <a:xfrm>
          <a:off x="0" y="1533"/>
          <a:ext cx="5257800" cy="777075"/>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3B555F-AFB5-4A47-A121-105F5794640C}">
      <dsp:nvSpPr>
        <dsp:cNvPr id="0" name=""/>
        <dsp:cNvSpPr/>
      </dsp:nvSpPr>
      <dsp:spPr>
        <a:xfrm>
          <a:off x="235065" y="176375"/>
          <a:ext cx="427391" cy="4273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7F3AF2-00A1-4F48-817C-1216DD7BC704}">
      <dsp:nvSpPr>
        <dsp:cNvPr id="0" name=""/>
        <dsp:cNvSpPr/>
      </dsp:nvSpPr>
      <dsp:spPr>
        <a:xfrm>
          <a:off x="897522" y="1533"/>
          <a:ext cx="4360277" cy="77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41" tIns="82241" rIns="82241" bIns="82241" numCol="1" spcCol="1270" anchor="ctr" anchorCtr="0">
          <a:noAutofit/>
        </a:bodyPr>
        <a:lstStyle/>
        <a:p>
          <a:pPr marL="0" lvl="0" indent="0" algn="l" defTabSz="933450">
            <a:lnSpc>
              <a:spcPct val="100000"/>
            </a:lnSpc>
            <a:spcBef>
              <a:spcPct val="0"/>
            </a:spcBef>
            <a:spcAft>
              <a:spcPct val="35000"/>
            </a:spcAft>
            <a:buNone/>
          </a:pPr>
          <a:r>
            <a:rPr lang="en-US" sz="2100" kern="1200" baseline="0" dirty="0">
              <a:latin typeface="Times New Roman" panose="02020603050405020304" pitchFamily="18" charset="0"/>
              <a:cs typeface="Times New Roman" panose="02020603050405020304" pitchFamily="18" charset="0"/>
            </a:rPr>
            <a:t>Room-based voice interaction system</a:t>
          </a:r>
          <a:endParaRPr lang="en-US" sz="2100" kern="1200" dirty="0">
            <a:latin typeface="Times New Roman" panose="02020603050405020304" pitchFamily="18" charset="0"/>
            <a:cs typeface="Times New Roman" panose="02020603050405020304" pitchFamily="18" charset="0"/>
          </a:endParaRPr>
        </a:p>
      </dsp:txBody>
      <dsp:txXfrm>
        <a:off x="897522" y="1533"/>
        <a:ext cx="4360277" cy="777075"/>
      </dsp:txXfrm>
    </dsp:sp>
    <dsp:sp modelId="{75C39E70-A4B4-4ADF-9D4C-BF4654D16DFC}">
      <dsp:nvSpPr>
        <dsp:cNvPr id="0" name=""/>
        <dsp:cNvSpPr/>
      </dsp:nvSpPr>
      <dsp:spPr>
        <a:xfrm>
          <a:off x="0" y="972877"/>
          <a:ext cx="5257800" cy="777075"/>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1EA1DB-2E12-4336-8B5F-F0A0A1706D60}">
      <dsp:nvSpPr>
        <dsp:cNvPr id="0" name=""/>
        <dsp:cNvSpPr/>
      </dsp:nvSpPr>
      <dsp:spPr>
        <a:xfrm>
          <a:off x="235065" y="1147719"/>
          <a:ext cx="427391" cy="4273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3310B6-A4FB-4B3B-A919-C0B9CA6A93F6}">
      <dsp:nvSpPr>
        <dsp:cNvPr id="0" name=""/>
        <dsp:cNvSpPr/>
      </dsp:nvSpPr>
      <dsp:spPr>
        <a:xfrm>
          <a:off x="897522" y="972877"/>
          <a:ext cx="4360277" cy="77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41" tIns="82241" rIns="82241" bIns="82241" numCol="1" spcCol="1270" anchor="ctr" anchorCtr="0">
          <a:noAutofit/>
        </a:bodyPr>
        <a:lstStyle/>
        <a:p>
          <a:pPr marL="0" lvl="0" indent="0" algn="l" defTabSz="933450">
            <a:lnSpc>
              <a:spcPct val="100000"/>
            </a:lnSpc>
            <a:spcBef>
              <a:spcPct val="0"/>
            </a:spcBef>
            <a:spcAft>
              <a:spcPct val="35000"/>
            </a:spcAft>
            <a:buNone/>
          </a:pPr>
          <a:r>
            <a:rPr lang="en-US" sz="2100" kern="1200" baseline="0" dirty="0">
              <a:latin typeface="Times New Roman" panose="02020603050405020304" pitchFamily="18" charset="0"/>
              <a:cs typeface="Times New Roman" panose="02020603050405020304" pitchFamily="18" charset="0"/>
            </a:rPr>
            <a:t>Supports users, providers, and calls</a:t>
          </a:r>
          <a:endParaRPr lang="en-US" sz="2100" kern="1200" dirty="0">
            <a:latin typeface="Times New Roman" panose="02020603050405020304" pitchFamily="18" charset="0"/>
            <a:cs typeface="Times New Roman" panose="02020603050405020304" pitchFamily="18" charset="0"/>
          </a:endParaRPr>
        </a:p>
      </dsp:txBody>
      <dsp:txXfrm>
        <a:off x="897522" y="972877"/>
        <a:ext cx="4360277" cy="777075"/>
      </dsp:txXfrm>
    </dsp:sp>
    <dsp:sp modelId="{146399D3-5FBB-403B-8F9A-6A771F334A61}">
      <dsp:nvSpPr>
        <dsp:cNvPr id="0" name=""/>
        <dsp:cNvSpPr/>
      </dsp:nvSpPr>
      <dsp:spPr>
        <a:xfrm>
          <a:off x="0" y="1944222"/>
          <a:ext cx="5257800" cy="777075"/>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76B0CF-6770-4E2C-A5DC-50F68CD93773}">
      <dsp:nvSpPr>
        <dsp:cNvPr id="0" name=""/>
        <dsp:cNvSpPr/>
      </dsp:nvSpPr>
      <dsp:spPr>
        <a:xfrm>
          <a:off x="235065" y="2119064"/>
          <a:ext cx="427391" cy="42739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271F6D-6334-4D55-AE28-EA56EDBC8B0D}">
      <dsp:nvSpPr>
        <dsp:cNvPr id="0" name=""/>
        <dsp:cNvSpPr/>
      </dsp:nvSpPr>
      <dsp:spPr>
        <a:xfrm>
          <a:off x="897522" y="1944222"/>
          <a:ext cx="4360277" cy="77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41" tIns="82241" rIns="82241" bIns="82241" numCol="1" spcCol="1270" anchor="ctr" anchorCtr="0">
          <a:noAutofit/>
        </a:bodyPr>
        <a:lstStyle/>
        <a:p>
          <a:pPr marL="0" lvl="0" indent="0" algn="l" defTabSz="933450">
            <a:lnSpc>
              <a:spcPct val="10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Tracks sessions, messaging, and payments</a:t>
          </a:r>
        </a:p>
      </dsp:txBody>
      <dsp:txXfrm>
        <a:off x="897522" y="1944222"/>
        <a:ext cx="4360277" cy="777075"/>
      </dsp:txXfrm>
    </dsp:sp>
    <dsp:sp modelId="{1BB1BF52-E046-094A-8167-8DC8175B10C8}">
      <dsp:nvSpPr>
        <dsp:cNvPr id="0" name=""/>
        <dsp:cNvSpPr/>
      </dsp:nvSpPr>
      <dsp:spPr>
        <a:xfrm>
          <a:off x="0" y="2915567"/>
          <a:ext cx="5257800" cy="777075"/>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9F7ED3-5607-B940-8C28-4B76C09F1496}">
      <dsp:nvSpPr>
        <dsp:cNvPr id="0" name=""/>
        <dsp:cNvSpPr/>
      </dsp:nvSpPr>
      <dsp:spPr>
        <a:xfrm>
          <a:off x="235065" y="3090409"/>
          <a:ext cx="427391" cy="427391"/>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DA04A2-9AFE-7F41-B422-08524CA7F27A}">
      <dsp:nvSpPr>
        <dsp:cNvPr id="0" name=""/>
        <dsp:cNvSpPr/>
      </dsp:nvSpPr>
      <dsp:spPr>
        <a:xfrm>
          <a:off x="897522" y="2915567"/>
          <a:ext cx="4360277" cy="77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41" tIns="82241" rIns="82241" bIns="82241" numCol="1" spcCol="1270" anchor="ctr" anchorCtr="0">
          <a:noAutofit/>
        </a:bodyPr>
        <a:lstStyle/>
        <a:p>
          <a:pPr marL="0" lvl="0" indent="0" algn="l" defTabSz="933450">
            <a:lnSpc>
              <a:spcPct val="10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Enables structured reporting and analytics</a:t>
          </a:r>
        </a:p>
      </dsp:txBody>
      <dsp:txXfrm>
        <a:off x="897522" y="2915567"/>
        <a:ext cx="4360277" cy="7770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8BD4A5-E1A4-4EFA-8584-186177B66E76}">
      <dsp:nvSpPr>
        <dsp:cNvPr id="0" name=""/>
        <dsp:cNvSpPr/>
      </dsp:nvSpPr>
      <dsp:spPr>
        <a:xfrm>
          <a:off x="0" y="21504"/>
          <a:ext cx="5257800" cy="7770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3B555F-AFB5-4A47-A121-105F5794640C}">
      <dsp:nvSpPr>
        <dsp:cNvPr id="0" name=""/>
        <dsp:cNvSpPr/>
      </dsp:nvSpPr>
      <dsp:spPr>
        <a:xfrm>
          <a:off x="235065" y="176375"/>
          <a:ext cx="427391" cy="4273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7F3AF2-00A1-4F48-817C-1216DD7BC704}">
      <dsp:nvSpPr>
        <dsp:cNvPr id="0" name=""/>
        <dsp:cNvSpPr/>
      </dsp:nvSpPr>
      <dsp:spPr>
        <a:xfrm>
          <a:off x="897522" y="1533"/>
          <a:ext cx="4360277" cy="77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41" tIns="82241" rIns="82241" bIns="82241" numCol="1" spcCol="1270" anchor="ctr" anchorCtr="0">
          <a:noAutofit/>
        </a:bodyPr>
        <a:lstStyle/>
        <a:p>
          <a:pPr marL="0" lvl="0" indent="0" algn="l" defTabSz="933450">
            <a:lnSpc>
              <a:spcPct val="100000"/>
            </a:lnSpc>
            <a:spcBef>
              <a:spcPct val="0"/>
            </a:spcBef>
            <a:spcAft>
              <a:spcPct val="35000"/>
            </a:spcAft>
            <a:buNone/>
          </a:pPr>
          <a:r>
            <a:rPr lang="en-US" sz="2100" kern="1200" baseline="0" dirty="0">
              <a:latin typeface="Times New Roman" panose="02020603050405020304" pitchFamily="18" charset="0"/>
              <a:cs typeface="Times New Roman" panose="02020603050405020304" pitchFamily="18" charset="0"/>
            </a:rPr>
            <a:t>Real-time voice platforms are complex</a:t>
          </a:r>
          <a:endParaRPr lang="en-US" sz="2100" kern="1200" dirty="0">
            <a:latin typeface="Times New Roman" panose="02020603050405020304" pitchFamily="18" charset="0"/>
            <a:cs typeface="Times New Roman" panose="02020603050405020304" pitchFamily="18" charset="0"/>
          </a:endParaRPr>
        </a:p>
      </dsp:txBody>
      <dsp:txXfrm>
        <a:off x="897522" y="1533"/>
        <a:ext cx="4360277" cy="777075"/>
      </dsp:txXfrm>
    </dsp:sp>
    <dsp:sp modelId="{75C39E70-A4B4-4ADF-9D4C-BF4654D16DFC}">
      <dsp:nvSpPr>
        <dsp:cNvPr id="0" name=""/>
        <dsp:cNvSpPr/>
      </dsp:nvSpPr>
      <dsp:spPr>
        <a:xfrm>
          <a:off x="0" y="972877"/>
          <a:ext cx="5257800" cy="7770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1EA1DB-2E12-4336-8B5F-F0A0A1706D60}">
      <dsp:nvSpPr>
        <dsp:cNvPr id="0" name=""/>
        <dsp:cNvSpPr/>
      </dsp:nvSpPr>
      <dsp:spPr>
        <a:xfrm>
          <a:off x="235065" y="1147719"/>
          <a:ext cx="427391" cy="4273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3310B6-A4FB-4B3B-A919-C0B9CA6A93F6}">
      <dsp:nvSpPr>
        <dsp:cNvPr id="0" name=""/>
        <dsp:cNvSpPr/>
      </dsp:nvSpPr>
      <dsp:spPr>
        <a:xfrm>
          <a:off x="897522" y="972877"/>
          <a:ext cx="4360277" cy="77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41" tIns="82241" rIns="82241" bIns="82241" numCol="1" spcCol="1270" anchor="ctr" anchorCtr="0">
          <a:noAutofit/>
        </a:bodyPr>
        <a:lstStyle/>
        <a:p>
          <a:pPr marL="0" lvl="0" indent="0" algn="l" defTabSz="933450">
            <a:lnSpc>
              <a:spcPct val="100000"/>
            </a:lnSpc>
            <a:spcBef>
              <a:spcPct val="0"/>
            </a:spcBef>
            <a:spcAft>
              <a:spcPct val="35000"/>
            </a:spcAft>
            <a:buNone/>
          </a:pPr>
          <a:r>
            <a:rPr lang="en-US" sz="2100" kern="1200" baseline="0" dirty="0">
              <a:latin typeface="Times New Roman" panose="02020603050405020304" pitchFamily="18" charset="0"/>
              <a:cs typeface="Times New Roman" panose="02020603050405020304" pitchFamily="18" charset="0"/>
            </a:rPr>
            <a:t>High-frequency interactions (messages, calls)</a:t>
          </a:r>
          <a:endParaRPr lang="en-US" sz="2100" kern="1200" dirty="0">
            <a:latin typeface="Times New Roman" panose="02020603050405020304" pitchFamily="18" charset="0"/>
            <a:cs typeface="Times New Roman" panose="02020603050405020304" pitchFamily="18" charset="0"/>
          </a:endParaRPr>
        </a:p>
      </dsp:txBody>
      <dsp:txXfrm>
        <a:off x="897522" y="972877"/>
        <a:ext cx="4360277" cy="777075"/>
      </dsp:txXfrm>
    </dsp:sp>
    <dsp:sp modelId="{146399D3-5FBB-403B-8F9A-6A771F334A61}">
      <dsp:nvSpPr>
        <dsp:cNvPr id="0" name=""/>
        <dsp:cNvSpPr/>
      </dsp:nvSpPr>
      <dsp:spPr>
        <a:xfrm>
          <a:off x="0" y="1944222"/>
          <a:ext cx="5257800" cy="7770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76B0CF-6770-4E2C-A5DC-50F68CD93773}">
      <dsp:nvSpPr>
        <dsp:cNvPr id="0" name=""/>
        <dsp:cNvSpPr/>
      </dsp:nvSpPr>
      <dsp:spPr>
        <a:xfrm>
          <a:off x="235065" y="2119064"/>
          <a:ext cx="427391" cy="42739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271F6D-6334-4D55-AE28-EA56EDBC8B0D}">
      <dsp:nvSpPr>
        <dsp:cNvPr id="0" name=""/>
        <dsp:cNvSpPr/>
      </dsp:nvSpPr>
      <dsp:spPr>
        <a:xfrm>
          <a:off x="897522" y="1944222"/>
          <a:ext cx="4360277" cy="77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41" tIns="82241" rIns="82241" bIns="82241" numCol="1" spcCol="1270" anchor="ctr" anchorCtr="0">
          <a:noAutofit/>
        </a:bodyPr>
        <a:lstStyle/>
        <a:p>
          <a:pPr marL="0" lvl="0" indent="0" algn="l" defTabSz="933450">
            <a:lnSpc>
              <a:spcPct val="10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Need accurate tracking of calls and payments</a:t>
          </a:r>
        </a:p>
      </dsp:txBody>
      <dsp:txXfrm>
        <a:off x="897522" y="1944222"/>
        <a:ext cx="4360277" cy="777075"/>
      </dsp:txXfrm>
    </dsp:sp>
    <dsp:sp modelId="{1BB1BF52-E046-094A-8167-8DC8175B10C8}">
      <dsp:nvSpPr>
        <dsp:cNvPr id="0" name=""/>
        <dsp:cNvSpPr/>
      </dsp:nvSpPr>
      <dsp:spPr>
        <a:xfrm>
          <a:off x="0" y="2915567"/>
          <a:ext cx="5257800" cy="7770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9F7ED3-5607-B940-8C28-4B76C09F1496}">
      <dsp:nvSpPr>
        <dsp:cNvPr id="0" name=""/>
        <dsp:cNvSpPr/>
      </dsp:nvSpPr>
      <dsp:spPr>
        <a:xfrm>
          <a:off x="235065" y="3090409"/>
          <a:ext cx="427391" cy="42739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DA04A2-9AFE-7F41-B422-08524CA7F27A}">
      <dsp:nvSpPr>
        <dsp:cNvPr id="0" name=""/>
        <dsp:cNvSpPr/>
      </dsp:nvSpPr>
      <dsp:spPr>
        <a:xfrm>
          <a:off x="897522" y="2915567"/>
          <a:ext cx="4360277" cy="77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41" tIns="82241" rIns="82241" bIns="82241" numCol="1" spcCol="1270" anchor="ctr" anchorCtr="0">
          <a:noAutofit/>
        </a:bodyPr>
        <a:lstStyle/>
        <a:p>
          <a:pPr marL="0" lvl="0" indent="0" algn="l" defTabSz="933450">
            <a:lnSpc>
              <a:spcPct val="100000"/>
            </a:lnSpc>
            <a:spcBef>
              <a:spcPct val="0"/>
            </a:spcBef>
            <a:spcAft>
              <a:spcPct val="35000"/>
            </a:spcAft>
            <a:buNone/>
          </a:pPr>
          <a:r>
            <a:rPr lang="en-US" sz="2100" kern="1200" dirty="0">
              <a:latin typeface="Times New Roman" panose="02020603050405020304" pitchFamily="18" charset="0"/>
              <a:cs typeface="Times New Roman" panose="02020603050405020304" pitchFamily="18" charset="0"/>
            </a:rPr>
            <a:t>Difficult to connect user activity with revenue</a:t>
          </a:r>
        </a:p>
      </dsp:txBody>
      <dsp:txXfrm>
        <a:off x="897522" y="2915567"/>
        <a:ext cx="4360277" cy="7770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 everyone, I will be walking you through the implementation details of our database. </a:t>
            </a:r>
          </a:p>
          <a:p>
            <a:r>
              <a:rPr lang="en-US"/>
              <a:t>here is the overall structure of our SQL file. It has 7 sections. We start by creating the database, then drop any existing objects to allow safe re-runs, then define 4 scalar functions, create all 13 tables with constraints, insert sample data with at least 10 rows per table, create 3 views, and finally run verification queries to confirm everything works correctly.</a:t>
            </a:r>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3512182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Now let me talk about the implementation requirements we fulfilled.</a:t>
            </a:r>
          </a:p>
          <a:p>
            <a:r>
              <a:rPr lang="en-US"/>
              <a:t>The first requirement is computed columns based on functions. We have two. In the </a:t>
            </a:r>
            <a:r>
              <a:rPr lang="en-US" err="1"/>
              <a:t>AudioCall</a:t>
            </a:r>
            <a:r>
              <a:rPr lang="en-US"/>
              <a:t> table, </a:t>
            </a:r>
            <a:r>
              <a:rPr lang="en-US" err="1"/>
              <a:t>duration_seconds</a:t>
            </a:r>
            <a:r>
              <a:rPr lang="en-US"/>
              <a:t> is automatically calculated by </a:t>
            </a:r>
            <a:r>
              <a:rPr lang="en-US" err="1"/>
              <a:t>fn_ComputeCallDuration</a:t>
            </a:r>
            <a:r>
              <a:rPr lang="en-US"/>
              <a:t>, which takes start time and end time and returns the difference in seconds using DATEDIFF. In the </a:t>
            </a:r>
            <a:r>
              <a:rPr lang="en-US" err="1"/>
              <a:t>AudioCallProvider</a:t>
            </a:r>
            <a:r>
              <a:rPr lang="en-US"/>
              <a:t> table, </a:t>
            </a:r>
            <a:r>
              <a:rPr lang="en-US" err="1"/>
              <a:t>artist_earn</a:t>
            </a:r>
            <a:r>
              <a:rPr lang="en-US"/>
              <a:t> is calculated by </a:t>
            </a:r>
            <a:r>
              <a:rPr lang="en-US" err="1"/>
              <a:t>fn_ComputeArtistEarn</a:t>
            </a:r>
            <a:r>
              <a:rPr lang="en-US"/>
              <a:t>, which multiplies price tokens by duration in minutes, then applies 80%, meaning the platform takes 20% and the provider keeps 80%.</a:t>
            </a:r>
          </a:p>
          <a:p>
            <a:r>
              <a:rPr lang="en-US"/>
              <a:t>The second requirement is CHECK constraints based on functions. </a:t>
            </a:r>
            <a:r>
              <a:rPr lang="en-US" err="1"/>
              <a:t>fn_ValidateTipAmount</a:t>
            </a:r>
            <a:r>
              <a:rPr lang="en-US"/>
              <a:t> returns 1 if the tip amount is between 1 and 9999 tokens, otherwise 0. The CHECK constraint rejects any tip outside this range. </a:t>
            </a:r>
            <a:r>
              <a:rPr lang="en-US" err="1"/>
              <a:t>fn_ValidateCallDuration</a:t>
            </a:r>
            <a:r>
              <a:rPr lang="en-US"/>
              <a:t> ensures the call duration is a positive number.</a:t>
            </a:r>
          </a:p>
          <a:p>
            <a:r>
              <a:rPr lang="en-US"/>
              <a:t>And </a:t>
            </a:r>
            <a:r>
              <a:rPr lang="en-US" err="1"/>
              <a:t>RoomMessage</a:t>
            </a:r>
            <a:r>
              <a:rPr lang="en-US"/>
              <a:t> uses an auto-increment IDENTITY as primary key. This not only uniquely identifies each message, but the ascending ID also defines chronological message order, which is essential for compliance and safety auditing.</a:t>
            </a:r>
          </a:p>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Here are the actual query results from our 3 views running against the sample data.</a:t>
            </a:r>
          </a:p>
          <a:p>
            <a:r>
              <a:rPr lang="en-US"/>
              <a:t>The first view, </a:t>
            </a:r>
            <a:r>
              <a:rPr lang="en-US" err="1"/>
              <a:t>vw_ProviderEarningsSummary</a:t>
            </a:r>
            <a:r>
              <a:rPr lang="en-US"/>
              <a:t>, shows each provider ranked by grand total earnings, combining call earnings and tips. Grace is the top earner with 2810 tokens, combining call earnings and tips.</a:t>
            </a:r>
            <a:endParaRPr lang="en-US">
              <a:ea typeface="Calibri"/>
              <a:cs typeface="Calibri"/>
            </a:endParaRPr>
          </a:p>
          <a:p>
            <a:r>
              <a:rPr lang="en-US"/>
              <a:t>The second view, </a:t>
            </a:r>
            <a:r>
              <a:rPr lang="en-US" err="1"/>
              <a:t>vw_ActiveRoomOverview</a:t>
            </a:r>
            <a:r>
              <a:rPr lang="en-US"/>
              <a:t>, shows all 10 active rooms with their owner, provider count, message count, and tags. You can see each room has exactly one tag assigned and the room types are public, private, or premium.</a:t>
            </a:r>
          </a:p>
          <a:p>
            <a:r>
              <a:rPr lang="en-US"/>
              <a:t>The third view, </a:t>
            </a:r>
            <a:r>
              <a:rPr lang="en-US" err="1"/>
              <a:t>vw_MemberRoomActivitySummary</a:t>
            </a:r>
            <a:r>
              <a:rPr lang="en-US"/>
              <a:t>, shows member spending combined with room ownership. Emma Patel spent the most, 9450 tokens, and owns 2 active rooms.</a:t>
            </a:r>
          </a:p>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t>This slide shows the SQL code for the third view. It uses two CTEs. </a:t>
            </a:r>
            <a:r>
              <a:rPr lang="en-US" err="1"/>
              <a:t>MemberSpend</a:t>
            </a:r>
            <a:r>
              <a:rPr lang="en-US"/>
              <a:t> aggregates token spending from calls and tips per member. </a:t>
            </a:r>
            <a:r>
              <a:rPr lang="en-US" err="1"/>
              <a:t>RoomStats</a:t>
            </a:r>
            <a:r>
              <a:rPr lang="en-US"/>
              <a:t> calculates room ownership metrics per user. The final SELECT joins them together into one unified summary. This view supports VIP segmentation and platform engagement analytics.</a:t>
            </a:r>
          </a:p>
          <a:p>
            <a:r>
              <a:rPr lang="en-US"/>
              <a:t>That's the implementation. Then I’ll hand it over to my teammate Xiaopeng.</a:t>
            </a:r>
          </a:p>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Call Earnings vs. Tip Earnings by Provider: compares each provider’s income from calls and tips. It shows the earnings structure of providers and whether their revenue comes mainly from service fees or user tips.</a:t>
            </a:r>
          </a:p>
          <a:p>
            <a:endParaRPr lang="en-US" altLang="zh-CN"/>
          </a:p>
          <a:p>
            <a:r>
              <a:rPr lang="en-US" altLang="zh-CN"/>
              <a:t>Provider Earnings Report: analyzes the earnings performance of service providers on the platform. It shows total provider earnings, compares call income with tip income, and helps identify the highest-earning providers.</a:t>
            </a:r>
          </a:p>
          <a:p>
            <a:endParaRPr lang="en-US" altLang="zh-CN"/>
          </a:p>
          <a:p>
            <a:r>
              <a:rPr lang="en-US" altLang="zh-CN"/>
              <a:t>Top Providers by Total Earnings: ranks providers by their total earnings. It helps highlight which providers generate the most revenue through calls and tips.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Token Spending vs. Room Engagement by Member: This bubble chart shows the relationship between member spending and room engagement. Each bubble represents a member, while size and color provide additional engagement insights.</a:t>
            </a:r>
          </a:p>
          <a:p>
            <a:endParaRPr lang="en-US" altLang="zh-CN"/>
          </a:p>
          <a:p>
            <a:r>
              <a:rPr lang="en-US" altLang="zh-CN"/>
              <a:t>Top Members by Spending and Room Activity: highlights members with high token spending and strong room activity, combining financial and engagement performance in a single view.</a:t>
            </a:r>
          </a:p>
          <a:p>
            <a:endParaRPr lang="en-US" altLang="zh-CN"/>
          </a:p>
          <a:p>
            <a:r>
              <a:rPr lang="en-US" altLang="zh-CN"/>
              <a:t>Room Ownership and Provider Participation: compares the number of rooms owned by members with the number of active providers participating in those rooms.</a:t>
            </a:r>
          </a:p>
          <a:p>
            <a:endParaRPr lang="en-US" altLang="zh-CN"/>
          </a:p>
          <a:p>
            <a:r>
              <a:rPr lang="en-US" altLang="zh-CN"/>
              <a:t>Active Rooms Owned by Member: shows how many active rooms are owned by each member. It helps analyze room ownership and activity contribution across users.</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2026/4/11</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2026/4/11</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2026/4/11</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2026/4/11</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2026/4/11</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2026/4/11</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2026/4/11</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2026/4/11</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2026/4/11</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63.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64.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a:extLst>
              <a:ext uri="{FF2B5EF4-FFF2-40B4-BE49-F238E27FC236}">
                <a16:creationId xmlns:a16="http://schemas.microsoft.com/office/drawing/2014/main" id="{CAD2FF3A-C4A6-D49F-E53E-64BEAB5E08A1}"/>
              </a:ext>
            </a:extLst>
          </p:cNvPr>
          <p:cNvSpPr>
            <a:spLocks noGrp="1"/>
          </p:cNvSpPr>
          <p:nvPr>
            <p:ph type="ctrTitle"/>
          </p:nvPr>
        </p:nvSpPr>
        <p:spPr>
          <a:xfrm>
            <a:off x="1524003" y="1999615"/>
            <a:ext cx="9144000" cy="2764028"/>
          </a:xfrm>
        </p:spPr>
        <p:txBody>
          <a:bodyPr anchor="ctr">
            <a:normAutofit/>
          </a:bodyPr>
          <a:lstStyle/>
          <a:p>
            <a:pPr>
              <a:lnSpc>
                <a:spcPct val="90000"/>
              </a:lnSpc>
            </a:pPr>
            <a:r>
              <a:rPr lang="en-US" altLang="zh-CN" sz="6100" dirty="0">
                <a:latin typeface="Times New Roman" panose="02020603050405020304" pitchFamily="18" charset="0"/>
                <a:cs typeface="Times New Roman" panose="02020603050405020304" pitchFamily="18" charset="0"/>
              </a:rPr>
              <a:t>Voice-Call Chat &amp; Social Interaction Platform Database  </a:t>
            </a:r>
            <a:endParaRPr lang="zh-CN" altLang="en-US" sz="6100" dirty="0">
              <a:latin typeface="Times New Roman" panose="02020603050405020304" pitchFamily="18" charset="0"/>
              <a:cs typeface="Times New Roman" panose="02020603050405020304" pitchFamily="18" charset="0"/>
            </a:endParaRPr>
          </a:p>
        </p:txBody>
      </p:sp>
      <p:sp>
        <p:nvSpPr>
          <p:cNvPr id="3" name="副标题 2">
            <a:extLst>
              <a:ext uri="{FF2B5EF4-FFF2-40B4-BE49-F238E27FC236}">
                <a16:creationId xmlns:a16="http://schemas.microsoft.com/office/drawing/2014/main" id="{1870BB86-897A-3203-1B96-0404B9F2FF46}"/>
              </a:ext>
            </a:extLst>
          </p:cNvPr>
          <p:cNvSpPr>
            <a:spLocks noGrp="1"/>
          </p:cNvSpPr>
          <p:nvPr>
            <p:ph type="subTitle" idx="1"/>
          </p:nvPr>
        </p:nvSpPr>
        <p:spPr>
          <a:xfrm>
            <a:off x="1966912" y="5645150"/>
            <a:ext cx="8258176" cy="631825"/>
          </a:xfrm>
        </p:spPr>
        <p:txBody>
          <a:bodyPr anchor="ctr">
            <a:normAutofit fontScale="92500"/>
          </a:bodyPr>
          <a:lstStyle/>
          <a:p>
            <a:pPr>
              <a:lnSpc>
                <a:spcPct val="100000"/>
              </a:lnSpc>
            </a:pPr>
            <a:r>
              <a:rPr lang="en-US" altLang="zh-CN" sz="2000" dirty="0">
                <a:latin typeface="Times New Roman" panose="02020603050405020304" pitchFamily="18" charset="0"/>
                <a:cs typeface="Times New Roman" panose="02020603050405020304" pitchFamily="18" charset="0"/>
              </a:rPr>
              <a:t>Team3 members: Hang Bao, Yixin Mao, Xin Wen, Xiaopeng Wang</a:t>
            </a:r>
            <a:endParaRPr lang="zh-CN" altLang="en-US" sz="2000"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3BC2B4AD-F0AE-F439-E675-D6B2981F10F1}"/>
              </a:ext>
            </a:extLst>
          </p:cNvPr>
          <p:cNvSpPr txBox="1"/>
          <p:nvPr/>
        </p:nvSpPr>
        <p:spPr>
          <a:xfrm>
            <a:off x="3291354" y="5044686"/>
            <a:ext cx="5609292" cy="369332"/>
          </a:xfrm>
          <a:prstGeom prst="rect">
            <a:avLst/>
          </a:prstGeom>
          <a:noFill/>
        </p:spPr>
        <p:txBody>
          <a:bodyPr wrap="none" rtlCol="0">
            <a:spAutoFit/>
          </a:bodyPr>
          <a:lstStyle/>
          <a:p>
            <a:r>
              <a:rPr lang="en-CN" dirty="0"/>
              <a:t>Designing for Interaction, Monetization, and Analytics</a:t>
            </a:r>
          </a:p>
        </p:txBody>
      </p:sp>
    </p:spTree>
    <p:extLst>
      <p:ext uri="{BB962C8B-B14F-4D97-AF65-F5344CB8AC3E}">
        <p14:creationId xmlns:p14="http://schemas.microsoft.com/office/powerpoint/2010/main" val="367288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20">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 name="Freeform: Shape 22">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2" name="Freeform: Shape 24">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a:extLst>
              <a:ext uri="{FF2B5EF4-FFF2-40B4-BE49-F238E27FC236}">
                <a16:creationId xmlns:a16="http://schemas.microsoft.com/office/drawing/2014/main" id="{A95BE9F2-D9B8-5096-91D4-F2318B081CBB}"/>
              </a:ext>
            </a:extLst>
          </p:cNvPr>
          <p:cNvSpPr>
            <a:spLocks noGrp="1"/>
          </p:cNvSpPr>
          <p:nvPr>
            <p:ph type="title"/>
          </p:nvPr>
        </p:nvSpPr>
        <p:spPr>
          <a:xfrm>
            <a:off x="838200" y="253397"/>
            <a:ext cx="10515600" cy="1273233"/>
          </a:xfrm>
        </p:spPr>
        <p:txBody>
          <a:bodyPr>
            <a:normAutofit/>
          </a:bodyPr>
          <a:lstStyle/>
          <a:p>
            <a:r>
              <a:rPr lang="en-US" altLang="zh-CN" sz="4000" dirty="0"/>
              <a:t>Business Problem</a:t>
            </a:r>
            <a:endParaRPr lang="zh-CN" altLang="en-US" sz="4000" dirty="0"/>
          </a:p>
        </p:txBody>
      </p:sp>
      <p:sp>
        <p:nvSpPr>
          <p:cNvPr id="43" name="Rectangle 26">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4" name="内容占位符 2">
            <a:extLst>
              <a:ext uri="{FF2B5EF4-FFF2-40B4-BE49-F238E27FC236}">
                <a16:creationId xmlns:a16="http://schemas.microsoft.com/office/drawing/2014/main" id="{706EE121-CAD4-F411-863A-19569C4CEFCD}"/>
              </a:ext>
            </a:extLst>
          </p:cNvPr>
          <p:cNvGraphicFramePr>
            <a:graphicFrameLocks noGrp="1"/>
          </p:cNvGraphicFramePr>
          <p:nvPr>
            <p:ph idx="1"/>
            <p:extLst>
              <p:ext uri="{D42A27DB-BD31-4B8C-83A1-F6EECF244321}">
                <p14:modId xmlns:p14="http://schemas.microsoft.com/office/powerpoint/2010/main" val="2752793124"/>
              </p:ext>
            </p:extLst>
          </p:nvPr>
        </p:nvGraphicFramePr>
        <p:xfrm>
          <a:off x="6589776" y="2630424"/>
          <a:ext cx="5257800"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536C22EE-C8F5-A692-6615-E05270AB57DA}"/>
              </a:ext>
            </a:extLst>
          </p:cNvPr>
          <p:cNvSpPr txBox="1"/>
          <p:nvPr/>
        </p:nvSpPr>
        <p:spPr>
          <a:xfrm>
            <a:off x="990601" y="2051884"/>
            <a:ext cx="5257799" cy="400110"/>
          </a:xfrm>
          <a:prstGeom prst="rect">
            <a:avLst/>
          </a:prstGeom>
          <a:noFill/>
        </p:spPr>
        <p:txBody>
          <a:bodyPr wrap="square" rtlCol="0">
            <a:spAutoFit/>
          </a:bodyPr>
          <a:lstStyle/>
          <a:p>
            <a:r>
              <a:rPr lang="en-CN" sz="2000" dirty="0"/>
              <a:t>Challenges in Voice-Based Social Platforms</a:t>
            </a:r>
          </a:p>
        </p:txBody>
      </p:sp>
      <p:sp>
        <p:nvSpPr>
          <p:cNvPr id="4" name="TextBox 3">
            <a:extLst>
              <a:ext uri="{FF2B5EF4-FFF2-40B4-BE49-F238E27FC236}">
                <a16:creationId xmlns:a16="http://schemas.microsoft.com/office/drawing/2014/main" id="{1D0006E1-C279-241A-2C21-609632E9F854}"/>
              </a:ext>
            </a:extLst>
          </p:cNvPr>
          <p:cNvSpPr txBox="1"/>
          <p:nvPr/>
        </p:nvSpPr>
        <p:spPr>
          <a:xfrm>
            <a:off x="7929701" y="2064957"/>
            <a:ext cx="2577950" cy="400110"/>
          </a:xfrm>
          <a:prstGeom prst="rect">
            <a:avLst/>
          </a:prstGeom>
          <a:noFill/>
        </p:spPr>
        <p:txBody>
          <a:bodyPr wrap="none" rtlCol="0">
            <a:spAutoFit/>
          </a:bodyPr>
          <a:lstStyle/>
          <a:p>
            <a:r>
              <a:rPr lang="en-CN" sz="2000" dirty="0"/>
              <a:t>Our DataBase Focus</a:t>
            </a:r>
          </a:p>
        </p:txBody>
      </p:sp>
      <p:graphicFrame>
        <p:nvGraphicFramePr>
          <p:cNvPr id="7" name="内容占位符 2">
            <a:extLst>
              <a:ext uri="{FF2B5EF4-FFF2-40B4-BE49-F238E27FC236}">
                <a16:creationId xmlns:a16="http://schemas.microsoft.com/office/drawing/2014/main" id="{65E7E79C-D753-E6A4-FC0C-94EEA9B0FC1A}"/>
              </a:ext>
            </a:extLst>
          </p:cNvPr>
          <p:cNvGraphicFramePr>
            <a:graphicFrameLocks/>
          </p:cNvGraphicFramePr>
          <p:nvPr>
            <p:extLst>
              <p:ext uri="{D42A27DB-BD31-4B8C-83A1-F6EECF244321}">
                <p14:modId xmlns:p14="http://schemas.microsoft.com/office/powerpoint/2010/main" val="2610464184"/>
              </p:ext>
            </p:extLst>
          </p:nvPr>
        </p:nvGraphicFramePr>
        <p:xfrm>
          <a:off x="990600" y="2630424"/>
          <a:ext cx="5257800" cy="369417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506702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2D0A2-9FC2-8CAF-76BD-2AF6472F22CB}"/>
              </a:ext>
            </a:extLst>
          </p:cNvPr>
          <p:cNvSpPr>
            <a:spLocks noGrp="1"/>
          </p:cNvSpPr>
          <p:nvPr>
            <p:ph type="title"/>
          </p:nvPr>
        </p:nvSpPr>
        <p:spPr/>
        <p:txBody>
          <a:bodyPr/>
          <a:lstStyle/>
          <a:p>
            <a:r>
              <a:rPr lang="en-CN" dirty="0"/>
              <a:t>System Overview</a:t>
            </a:r>
          </a:p>
        </p:txBody>
      </p:sp>
      <p:sp>
        <p:nvSpPr>
          <p:cNvPr id="3" name="Content Placeholder 2">
            <a:extLst>
              <a:ext uri="{FF2B5EF4-FFF2-40B4-BE49-F238E27FC236}">
                <a16:creationId xmlns:a16="http://schemas.microsoft.com/office/drawing/2014/main" id="{47DE4478-4A22-B9D9-11E3-99886223F489}"/>
              </a:ext>
            </a:extLst>
          </p:cNvPr>
          <p:cNvSpPr>
            <a:spLocks noGrp="1"/>
          </p:cNvSpPr>
          <p:nvPr>
            <p:ph idx="1"/>
          </p:nvPr>
        </p:nvSpPr>
        <p:spPr/>
        <p:txBody>
          <a:bodyPr>
            <a:normAutofit/>
          </a:bodyPr>
          <a:lstStyle/>
          <a:p>
            <a:pPr>
              <a:buNone/>
            </a:pPr>
            <a:r>
              <a:rPr lang="en-US" sz="1400" b="1" dirty="0"/>
              <a:t>How the Platform Works</a:t>
            </a:r>
          </a:p>
          <a:p>
            <a:pPr>
              <a:buNone/>
            </a:pPr>
            <a:endParaRPr lang="en-US" sz="1400" b="1" dirty="0"/>
          </a:p>
          <a:p>
            <a:pPr marL="228600" indent="-228600">
              <a:buChar char="①"/>
            </a:pPr>
            <a:r>
              <a:rPr lang="en-US" sz="1400" b="1" dirty="0"/>
              <a:t>User registers and logs in </a:t>
            </a:r>
            <a:r>
              <a:rPr lang="en-US" sz="1400" dirty="0"/>
              <a:t>→ User table stores credentials, status, and contact info</a:t>
            </a:r>
          </a:p>
          <a:p>
            <a:pPr marL="228600" indent="-228600">
              <a:buChar char="②"/>
            </a:pPr>
            <a:r>
              <a:rPr lang="en-US" sz="1400" b="1" dirty="0"/>
              <a:t>User takes on a role </a:t>
            </a:r>
            <a:r>
              <a:rPr lang="en-US" sz="1400" dirty="0"/>
              <a:t>→ Member (audience) or Provider (host) extends User with role-specific data</a:t>
            </a:r>
          </a:p>
          <a:p>
            <a:pPr marL="228600" indent="-228600">
              <a:buChar char="③"/>
            </a:pPr>
            <a:r>
              <a:rPr lang="en-US" sz="1400" b="1" dirty="0"/>
              <a:t>User joins a room </a:t>
            </a:r>
            <a:r>
              <a:rPr lang="en-US" sz="1400" dirty="0"/>
              <a:t>→ Room stores type, tags, and max provider count; RoomProvider tracks who is on stage</a:t>
            </a:r>
          </a:p>
          <a:p>
            <a:pPr marL="228600" indent="-228600">
              <a:buChar char="④"/>
            </a:pPr>
            <a:r>
              <a:rPr lang="en-US" sz="1400" b="1" dirty="0"/>
              <a:t>Users send messages </a:t>
            </a:r>
            <a:r>
              <a:rPr lang="en-US" sz="1400" dirty="0"/>
              <a:t>→ RoomMessage records text </a:t>
            </a:r>
            <a:r>
              <a:rPr lang="en-US" sz="1400"/>
              <a:t>and media with </a:t>
            </a:r>
            <a:r>
              <a:rPr lang="en-US" sz="1400" dirty="0"/>
              <a:t>IDENTITY PK for ordered audit trail</a:t>
            </a:r>
          </a:p>
          <a:p>
            <a:pPr marL="228600" indent="-228600">
              <a:buChar char="⑤"/>
            </a:pPr>
            <a:r>
              <a:rPr lang="en-US" sz="1400" b="1" dirty="0"/>
              <a:t>Member starts a private audio call </a:t>
            </a:r>
            <a:r>
              <a:rPr lang="en-US" sz="1400" dirty="0"/>
              <a:t>→ AudioCall records start/end time; duration_seconds auto-calculated</a:t>
            </a:r>
          </a:p>
          <a:p>
            <a:pPr marL="228600" indent="-228600">
              <a:buChar char="⑥"/>
            </a:pPr>
            <a:r>
              <a:rPr lang="en-US" sz="1400" b="1" dirty="0"/>
              <a:t>Member pays based on duration </a:t>
            </a:r>
            <a:r>
              <a:rPr lang="en-US" sz="1400" dirty="0"/>
              <a:t>→ AudioCallProvider records tokens charged; artist_earn auto-calculated at 80% share</a:t>
            </a:r>
          </a:p>
          <a:p>
            <a:pPr marL="228600" indent="-228600">
              <a:buChar char="⑦"/>
            </a:pPr>
            <a:r>
              <a:rPr lang="en-US" sz="1400" b="1" dirty="0"/>
              <a:t>Member sends tips </a:t>
            </a:r>
            <a:r>
              <a:rPr lang="en-US" sz="1400" dirty="0"/>
              <a:t>→ Tip ledger is immutable; amount validated by fn_ValidateTipAmount (1–9999 tokens)</a:t>
            </a:r>
          </a:p>
          <a:p>
            <a:pPr marL="228600" indent="-228600">
              <a:buChar char="⑧"/>
            </a:pPr>
            <a:r>
              <a:rPr lang="en-US" sz="1400" b="1" dirty="0"/>
              <a:t>Data stored for analytics </a:t>
            </a:r>
            <a:r>
              <a:rPr lang="en-US" sz="1400" dirty="0"/>
              <a:t>→ 3 views aggregate earnings, room activity, and member spending for BI reporting</a:t>
            </a:r>
          </a:p>
        </p:txBody>
      </p:sp>
      <p:sp>
        <p:nvSpPr>
          <p:cNvPr id="21" name="Div_21"/>
          <p:cNvSpPr>
            <a:spLocks noGrp="1"/>
          </p:cNvSpPr>
          <p:nvPr/>
        </p:nvSpPr>
        <p:spPr>
          <a:xfrm>
            <a:off x="457200" y="1307200"/>
            <a:ext cx="11277600" cy="18000"/>
          </a:xfrm>
          <a:prstGeom prst="rect">
            <a:avLst/>
          </a:prstGeom>
          <a:solidFill>
            <a:srgbClr val="EE822F">
              <a:alpha val="40000"/>
            </a:srgbClr>
          </a:solidFill>
          <a:ln>
            <a:noFill/>
          </a:ln>
        </p:spPr>
        <p:txBody>
          <a:bodyPr/>
          <a:lstStyle/>
          <a:p>
            <a:endParaRPr/>
          </a:p>
        </p:txBody>
      </p:sp>
    </p:spTree>
    <p:extLst>
      <p:ext uri="{BB962C8B-B14F-4D97-AF65-F5344CB8AC3E}">
        <p14:creationId xmlns:p14="http://schemas.microsoft.com/office/powerpoint/2010/main" val="14744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ar"/>
          <p:cNvSpPr>
            <a:spLocks noGrp="1"/>
          </p:cNvSpPr>
          <p:nvPr/>
        </p:nvSpPr>
        <p:spPr>
          <a:xfrm>
            <a:off x="457200" y="457200"/>
            <a:ext cx="91440" cy="800000"/>
          </a:xfrm>
          <a:prstGeom prst="rect">
            <a:avLst/>
          </a:prstGeom>
          <a:solidFill>
            <a:srgbClr val="EE822F"/>
          </a:solidFill>
          <a:ln>
            <a:noFill/>
          </a:ln>
        </p:spPr>
        <p:txBody>
          <a:bodyPr/>
          <a:lstStyle/>
          <a:p>
            <a:endParaRPr/>
          </a:p>
        </p:txBody>
      </p:sp>
      <p:sp>
        <p:nvSpPr>
          <p:cNvPr id="2" name="Title"/>
          <p:cNvSpPr>
            <a:spLocks noGrp="1"/>
          </p:cNvSpPr>
          <p:nvPr>
            <p:ph type="title"/>
          </p:nvPr>
        </p:nvSpPr>
        <p:spPr>
          <a:xfrm>
            <a:off x="457200" y="457200"/>
            <a:ext cx="11277600" cy="800000"/>
          </a:xfrm>
        </p:spPr>
        <p:txBody>
          <a:bodyPr/>
          <a:lstStyle/>
          <a:p>
            <a:r>
              <a:rPr lang="en-US" dirty="0"/>
              <a:t>Mission Objectives</a:t>
            </a:r>
          </a:p>
        </p:txBody>
      </p:sp>
      <p:sp>
        <p:nvSpPr>
          <p:cNvPr id="3" name="Box_0"/>
          <p:cNvSpPr txBox="1"/>
          <p:nvPr/>
        </p:nvSpPr>
        <p:spPr>
          <a:xfrm>
            <a:off x="457200" y="1457200"/>
            <a:ext cx="3639200" cy="2381800"/>
          </a:xfrm>
          <a:prstGeom prst="rect">
            <a:avLst/>
          </a:prstGeom>
          <a:solidFill>
            <a:srgbClr val="4472C4">
              <a:alpha val="12000"/>
            </a:srgbClr>
          </a:solidFill>
          <a:ln w="18000">
            <a:solidFill>
              <a:srgbClr val="4472C4"/>
            </a:solidFill>
          </a:ln>
        </p:spPr>
        <p:txBody>
          <a:bodyPr wrap="square" lIns="152400" tIns="152400" rIns="152400" bIns="91440"/>
          <a:lstStyle/>
          <a:p>
            <a:pPr>
              <a:buNone/>
            </a:pPr>
            <a:r>
              <a:rPr lang="en-US" sz="1500" b="1" dirty="0">
                <a:solidFill>
                  <a:srgbClr val="4472C4"/>
                </a:solidFill>
                <a:latin typeface="Arial"/>
              </a:rPr>
              <a:t>User &amp; Identity Management</a:t>
            </a:r>
          </a:p>
          <a:p>
            <a:pPr>
              <a:buNone/>
            </a:pPr>
            <a:r>
              <a:rPr lang="en-US" sz="1500" b="0" dirty="0">
                <a:solidFill>
                  <a:srgbClr val="333333"/>
                </a:solidFill>
                <a:latin typeface="Arial"/>
              </a:rPr>
              <a:t>User profiles, Member/Provider role
specialization, account status control</a:t>
            </a:r>
          </a:p>
        </p:txBody>
      </p:sp>
      <p:sp>
        <p:nvSpPr>
          <p:cNvPr id="4" name="Box_1"/>
          <p:cNvSpPr txBox="1"/>
          <p:nvPr/>
        </p:nvSpPr>
        <p:spPr>
          <a:xfrm>
            <a:off x="4276400" y="1457200"/>
            <a:ext cx="3639200" cy="2381800"/>
          </a:xfrm>
          <a:prstGeom prst="rect">
            <a:avLst/>
          </a:prstGeom>
          <a:solidFill>
            <a:srgbClr val="EE822F">
              <a:alpha val="12000"/>
            </a:srgbClr>
          </a:solidFill>
          <a:ln w="18000">
            <a:solidFill>
              <a:srgbClr val="EE822F"/>
            </a:solidFill>
          </a:ln>
        </p:spPr>
        <p:txBody>
          <a:bodyPr wrap="square" lIns="152400" tIns="152400" rIns="152400" bIns="91440"/>
          <a:lstStyle/>
          <a:p>
            <a:pPr>
              <a:buNone/>
            </a:pPr>
            <a:r>
              <a:rPr lang="en-US" sz="1500" b="1" dirty="0">
                <a:solidFill>
                  <a:srgbClr val="EE822F"/>
                </a:solidFill>
                <a:latin typeface="Arial"/>
              </a:rPr>
              <a:t>Room &amp; Session Tracking</a:t>
            </a:r>
          </a:p>
          <a:p>
            <a:pPr>
              <a:buNone/>
            </a:pPr>
            <a:r>
              <a:rPr lang="en-US" sz="1500" b="0" dirty="0">
                <a:solidFill>
                  <a:srgbClr val="333333"/>
                </a:solidFill>
                <a:latin typeface="Arial"/>
              </a:rPr>
              <a:t>Room types (public/private/premium),
tags, provider participation tracking</a:t>
            </a:r>
          </a:p>
        </p:txBody>
      </p:sp>
      <p:sp>
        <p:nvSpPr>
          <p:cNvPr id="5" name="Box_2"/>
          <p:cNvSpPr txBox="1"/>
          <p:nvPr/>
        </p:nvSpPr>
        <p:spPr>
          <a:xfrm>
            <a:off x="8095600" y="1457200"/>
            <a:ext cx="3639200" cy="2381800"/>
          </a:xfrm>
          <a:prstGeom prst="rect">
            <a:avLst/>
          </a:prstGeom>
          <a:solidFill>
            <a:srgbClr val="538135">
              <a:alpha val="12000"/>
            </a:srgbClr>
          </a:solidFill>
          <a:ln w="18000">
            <a:solidFill>
              <a:srgbClr val="538135"/>
            </a:solidFill>
          </a:ln>
        </p:spPr>
        <p:txBody>
          <a:bodyPr wrap="square" lIns="152400" tIns="152400" rIns="152400" bIns="91440"/>
          <a:lstStyle/>
          <a:p>
            <a:pPr>
              <a:buNone/>
            </a:pPr>
            <a:r>
              <a:rPr lang="en-US" sz="1500" b="1" dirty="0">
                <a:solidFill>
                  <a:srgbClr val="538135"/>
                </a:solidFill>
                <a:latin typeface="Arial"/>
              </a:rPr>
              <a:t>Audio Call Recording</a:t>
            </a:r>
          </a:p>
          <a:p>
            <a:pPr>
              <a:buNone/>
            </a:pPr>
            <a:r>
              <a:rPr lang="en-US" sz="1500" b="0" dirty="0">
                <a:solidFill>
                  <a:srgbClr val="333333"/>
                </a:solidFill>
                <a:latin typeface="Arial"/>
              </a:rPr>
              <a:t>Session-level call data with
auto-calculated duration_seconds</a:t>
            </a:r>
          </a:p>
        </p:txBody>
      </p:sp>
      <p:sp>
        <p:nvSpPr>
          <p:cNvPr id="6" name="Box_3"/>
          <p:cNvSpPr txBox="1"/>
          <p:nvPr/>
        </p:nvSpPr>
        <p:spPr>
          <a:xfrm>
            <a:off x="457200" y="4019000"/>
            <a:ext cx="3639200" cy="2381800"/>
          </a:xfrm>
          <a:prstGeom prst="rect">
            <a:avLst/>
          </a:prstGeom>
          <a:solidFill>
            <a:srgbClr val="7030A0">
              <a:alpha val="12000"/>
            </a:srgbClr>
          </a:solidFill>
          <a:ln w="18000">
            <a:solidFill>
              <a:srgbClr val="7030A0"/>
            </a:solidFill>
          </a:ln>
        </p:spPr>
        <p:txBody>
          <a:bodyPr wrap="square" lIns="152400" tIns="152400" rIns="152400" bIns="91440"/>
          <a:lstStyle/>
          <a:p>
            <a:pPr>
              <a:buNone/>
            </a:pPr>
            <a:r>
              <a:rPr lang="en-US" sz="1500" b="1" dirty="0">
                <a:solidFill>
                  <a:srgbClr val="7030A0"/>
                </a:solidFill>
                <a:latin typeface="Arial"/>
              </a:rPr>
              <a:t>Financial Monetization</a:t>
            </a:r>
          </a:p>
          <a:p>
            <a:pPr>
              <a:buNone/>
            </a:pPr>
            <a:r>
              <a:rPr lang="en-US" sz="1500" b="0" dirty="0">
                <a:solidFill>
                  <a:srgbClr val="333333"/>
                </a:solidFill>
                <a:latin typeface="Arial"/>
              </a:rPr>
              <a:t>Token-based economy, per-call
earnings, tip ledger with validation</a:t>
            </a:r>
          </a:p>
        </p:txBody>
      </p:sp>
      <p:sp>
        <p:nvSpPr>
          <p:cNvPr id="7" name="Box_4"/>
          <p:cNvSpPr txBox="1"/>
          <p:nvPr/>
        </p:nvSpPr>
        <p:spPr>
          <a:xfrm>
            <a:off x="4276400" y="4019000"/>
            <a:ext cx="3639200" cy="2381800"/>
          </a:xfrm>
          <a:prstGeom prst="rect">
            <a:avLst/>
          </a:prstGeom>
          <a:solidFill>
            <a:srgbClr val="843C0C">
              <a:alpha val="12000"/>
            </a:srgbClr>
          </a:solidFill>
          <a:ln w="18000">
            <a:solidFill>
              <a:srgbClr val="843C0C"/>
            </a:solidFill>
          </a:ln>
        </p:spPr>
        <p:txBody>
          <a:bodyPr wrap="square" lIns="152400" tIns="152400" rIns="152400" bIns="91440"/>
          <a:lstStyle/>
          <a:p>
            <a:pPr>
              <a:buNone/>
            </a:pPr>
            <a:r>
              <a:rPr lang="en-US" sz="1500" b="1" dirty="0">
                <a:solidFill>
                  <a:srgbClr val="843C0C"/>
                </a:solidFill>
                <a:latin typeface="Arial"/>
              </a:rPr>
              <a:t>Searchability &amp; Tagging</a:t>
            </a:r>
          </a:p>
          <a:p>
            <a:pPr>
              <a:buNone/>
            </a:pPr>
            <a:r>
              <a:rPr lang="en-US" sz="1500" b="0" dirty="0">
                <a:solidFill>
                  <a:srgbClr val="333333"/>
                </a:solidFill>
                <a:latin typeface="Arial"/>
              </a:rPr>
              <a:t>Standardized tag catalogs for
providers and rooms</a:t>
            </a:r>
          </a:p>
        </p:txBody>
      </p:sp>
      <p:sp>
        <p:nvSpPr>
          <p:cNvPr id="8" name="Box_5"/>
          <p:cNvSpPr txBox="1"/>
          <p:nvPr/>
        </p:nvSpPr>
        <p:spPr>
          <a:xfrm>
            <a:off x="8095600" y="4019000"/>
            <a:ext cx="3639200" cy="2381800"/>
          </a:xfrm>
          <a:prstGeom prst="rect">
            <a:avLst/>
          </a:prstGeom>
          <a:solidFill>
            <a:srgbClr val="2E75B6">
              <a:alpha val="12000"/>
            </a:srgbClr>
          </a:solidFill>
          <a:ln w="18000">
            <a:solidFill>
              <a:srgbClr val="2E75B6"/>
            </a:solidFill>
          </a:ln>
        </p:spPr>
        <p:txBody>
          <a:bodyPr wrap="square" lIns="152400" tIns="152400" rIns="152400" bIns="91440"/>
          <a:lstStyle/>
          <a:p>
            <a:pPr>
              <a:buNone/>
            </a:pPr>
            <a:r>
              <a:rPr lang="en-US" sz="1500" b="1" dirty="0">
                <a:solidFill>
                  <a:srgbClr val="2E75B6"/>
                </a:solidFill>
                <a:latin typeface="Arial"/>
              </a:rPr>
              <a:t>Analytics &amp; Reporting</a:t>
            </a:r>
          </a:p>
          <a:p>
            <a:pPr>
              <a:buNone/>
            </a:pPr>
            <a:r>
              <a:rPr lang="en-US" sz="1500" b="0" dirty="0">
                <a:solidFill>
                  <a:srgbClr val="333333"/>
                </a:solidFill>
                <a:latin typeface="Arial"/>
              </a:rPr>
              <a:t>3 views for provider earnings,
room activity, and member spending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E29E92-DC30-F857-94B7-7AD2D0538D8B}"/>
              </a:ext>
            </a:extLst>
          </p:cNvPr>
          <p:cNvSpPr>
            <a:spLocks noGrp="1"/>
          </p:cNvSpPr>
          <p:nvPr>
            <p:ph type="title"/>
          </p:nvPr>
        </p:nvSpPr>
        <p:spPr/>
        <p:txBody>
          <a:bodyPr/>
          <a:lstStyle/>
          <a:p>
            <a:r>
              <a:rPr lang="en-US" altLang="zh-CN"/>
              <a:t>Entity List &amp; Relationship Descriptions </a:t>
            </a:r>
            <a:endParaRPr lang="zh-CN" altLang="en-US" dirty="0"/>
          </a:p>
        </p:txBody>
      </p:sp>
      <p:sp>
        <p:nvSpPr>
          <p:cNvPr id="3" name="内容占位符 2">
            <a:extLst>
              <a:ext uri="{FF2B5EF4-FFF2-40B4-BE49-F238E27FC236}">
                <a16:creationId xmlns:a16="http://schemas.microsoft.com/office/drawing/2014/main" id="{EE8B0778-FAC0-EDC2-18D1-A4BF0A39D749}"/>
              </a:ext>
            </a:extLst>
          </p:cNvPr>
          <p:cNvSpPr>
            <a:spLocks noGrp="1"/>
          </p:cNvSpPr>
          <p:nvPr>
            <p:ph idx="1"/>
          </p:nvPr>
        </p:nvSpPr>
        <p:spPr/>
        <p:txBody>
          <a:bodyPr>
            <a:normAutofit fontScale="92500" lnSpcReduction="20000"/>
          </a:bodyPr>
          <a:lstStyle/>
          <a:p>
            <a:pPr>
              <a:buNone/>
            </a:pPr>
            <a:r>
              <a:rPr lang="en-US" b="1" dirty="0"/>
              <a:t>User &amp; Identity Module</a:t>
            </a:r>
          </a:p>
          <a:p>
            <a:pPr marL="228600" indent="-228600">
              <a:buChar char="•"/>
            </a:pPr>
            <a:r>
              <a:rPr lang="en-US" b="1" dirty="0"/>
              <a:t>User: </a:t>
            </a:r>
            <a:r>
              <a:rPr lang="en-US" dirty="0"/>
              <a:t>Core identity and authentication. Stores credentials, contact info, and account status.</a:t>
            </a:r>
          </a:p>
          <a:p>
            <a:pPr marL="228600" indent="-228600">
              <a:buChar char="•"/>
            </a:pPr>
            <a:r>
              <a:rPr lang="en-US" b="1" dirty="0"/>
              <a:t>Member: </a:t>
            </a:r>
            <a:r>
              <a:rPr lang="en-US" dirty="0"/>
              <a:t>Role extension for audience. Adds nickname, token balance, and VIP level.</a:t>
            </a:r>
          </a:p>
          <a:p>
            <a:pPr marL="228600" indent="-228600">
              <a:buChar char="•"/>
            </a:pPr>
            <a:r>
              <a:rPr lang="en-US" b="1" dirty="0"/>
              <a:t>Provider: </a:t>
            </a:r>
            <a:r>
              <a:rPr lang="en-US" dirty="0"/>
              <a:t>Role extension for hosts. Stores bio, service type, pricing, rating, and availability.</a:t>
            </a:r>
          </a:p>
          <a:p>
            <a:pPr>
              <a:buNone/>
            </a:pPr>
            <a:endParaRPr lang="en-US" dirty="0"/>
          </a:p>
          <a:p>
            <a:pPr>
              <a:buNone/>
            </a:pPr>
            <a:r>
              <a:rPr lang="en-US" b="1" dirty="0"/>
              <a:t>Room Module</a:t>
            </a:r>
          </a:p>
          <a:p>
            <a:pPr marL="228600" indent="-228600">
              <a:buChar char="•"/>
            </a:pPr>
            <a:r>
              <a:rPr lang="en-US" b="1" dirty="0"/>
              <a:t>Room: </a:t>
            </a:r>
            <a:r>
              <a:rPr lang="en-US" dirty="0"/>
              <a:t>Virtual session environment. Supports group and 1-on-1 modes. Linked to User via owner_user_id (Non-identifying).</a:t>
            </a:r>
          </a:p>
          <a:p>
            <a:pPr marL="228600" indent="-228600">
              <a:buChar char="•"/>
            </a:pPr>
            <a:r>
              <a:rPr lang="en-US" b="1" dirty="0"/>
              <a:t>RoomProvider: </a:t>
            </a:r>
            <a:r>
              <a:rPr lang="en-US" dirty="0"/>
              <a:t>Junction table tracking provider participation. Stores join/leave times and tip totals. Composite PK (Identifying).</a:t>
            </a:r>
          </a:p>
          <a:p>
            <a:pPr marL="228600" indent="-228600">
              <a:buChar char="•"/>
            </a:pPr>
            <a:r>
              <a:rPr lang="en-US" b="1" dirty="0"/>
              <a:t>RoomMessage: </a:t>
            </a:r>
            <a:r>
              <a:rPr lang="en-US" dirty="0"/>
              <a:t>Stores messages within rooms. Uses IDENTITY PK for chronological ordering. Preserved independently for auditing (Non-identifying).</a:t>
            </a:r>
          </a:p>
        </p:txBody>
      </p:sp>
      <p:sp>
        <p:nvSpPr>
          <p:cNvPr id="20" name="AccentBar"/>
          <p:cNvSpPr>
            <a:spLocks noGrp="1"/>
          </p:cNvSpPr>
          <p:nvPr/>
        </p:nvSpPr>
        <p:spPr>
          <a:xfrm>
            <a:off x="457200" y="457200"/>
            <a:ext cx="91440" cy="800000"/>
          </a:xfrm>
          <a:prstGeom prst="rect">
            <a:avLst/>
          </a:prstGeom>
          <a:solidFill>
            <a:srgbClr val="EE822F"/>
          </a:solidFill>
          <a:ln>
            <a:noFill/>
          </a:ln>
        </p:spPr>
        <p:txBody>
          <a:bodyPr/>
          <a:lstStyle/>
          <a:p>
            <a:endParaRPr/>
          </a:p>
        </p:txBody>
      </p:sp>
      <p:sp>
        <p:nvSpPr>
          <p:cNvPr id="21" name="Divider"/>
          <p:cNvSpPr>
            <a:spLocks noGrp="1"/>
          </p:cNvSpPr>
          <p:nvPr/>
        </p:nvSpPr>
        <p:spPr>
          <a:xfrm>
            <a:off x="457200" y="1307200"/>
            <a:ext cx="11277600" cy="18000"/>
          </a:xfrm>
          <a:prstGeom prst="rect">
            <a:avLst/>
          </a:prstGeom>
          <a:solidFill>
            <a:srgbClr val="EE822F">
              <a:alpha val="35000"/>
            </a:srgbClr>
          </a:solidFill>
          <a:ln>
            <a:noFill/>
          </a:ln>
        </p:spPr>
        <p:txBody>
          <a:bodyPr/>
          <a:lstStyle/>
          <a:p>
            <a:endParaRPr/>
          </a:p>
        </p:txBody>
      </p:sp>
      <p:sp>
        <p:nvSpPr>
          <p:cNvPr id="30" name="Strip_0"/>
          <p:cNvSpPr>
            <a:spLocks noGrp="1"/>
          </p:cNvSpPr>
          <p:nvPr/>
        </p:nvSpPr>
        <p:spPr>
          <a:xfrm>
            <a:off x="457200" y="1500000"/>
            <a:ext cx="60000" cy="2400000"/>
          </a:xfrm>
          <a:prstGeom prst="rect">
            <a:avLst/>
          </a:prstGeom>
          <a:solidFill>
            <a:srgbClr val="4472C4">
              <a:alpha val="60000"/>
            </a:srgbClr>
          </a:solidFill>
          <a:ln>
            <a:noFill/>
          </a:ln>
        </p:spPr>
        <p:txBody>
          <a:bodyPr/>
          <a:lstStyle/>
          <a:p>
            <a:endParaRPr/>
          </a:p>
        </p:txBody>
      </p:sp>
      <p:sp>
        <p:nvSpPr>
          <p:cNvPr id="31" name="Strip_1"/>
          <p:cNvSpPr>
            <a:spLocks noGrp="1"/>
          </p:cNvSpPr>
          <p:nvPr/>
        </p:nvSpPr>
        <p:spPr>
          <a:xfrm>
            <a:off x="457200" y="3550000"/>
            <a:ext cx="60000" cy="2400000"/>
          </a:xfrm>
          <a:prstGeom prst="rect">
            <a:avLst/>
          </a:prstGeom>
          <a:solidFill>
            <a:srgbClr val="2E75B6">
              <a:alpha val="60000"/>
            </a:srgbClr>
          </a:solidFill>
          <a:ln>
            <a:noFill/>
          </a:ln>
        </p:spPr>
        <p:txBody>
          <a:bodyPr/>
          <a:lstStyle/>
          <a:p>
            <a:endParaRPr/>
          </a:p>
        </p:txBody>
      </p:sp>
    </p:spTree>
    <p:extLst>
      <p:ext uri="{BB962C8B-B14F-4D97-AF65-F5344CB8AC3E}">
        <p14:creationId xmlns:p14="http://schemas.microsoft.com/office/powerpoint/2010/main" val="2880893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5A8E6F8-BCC8-168C-F090-CE0A40B9959A}"/>
              </a:ext>
            </a:extLst>
          </p:cNvPr>
          <p:cNvSpPr>
            <a:spLocks noGrp="1"/>
          </p:cNvSpPr>
          <p:nvPr>
            <p:ph idx="1"/>
          </p:nvPr>
        </p:nvSpPr>
        <p:spPr>
          <a:xfrm>
            <a:off x="765600" y="457200"/>
            <a:ext cx="10969200" cy="4759200"/>
          </a:xfrm>
        </p:spPr>
        <p:txBody>
          <a:bodyPr>
            <a:noAutofit/>
          </a:bodyPr>
          <a:lstStyle/>
          <a:p>
            <a:pPr>
              <a:buNone/>
            </a:pPr>
            <a:r>
              <a:rPr lang="en-US" sz="1500" b="1" dirty="0"/>
              <a:t>Tag Module</a:t>
            </a:r>
          </a:p>
          <a:p>
            <a:pPr marL="228600" indent="-228600">
              <a:buChar char="•"/>
            </a:pPr>
            <a:r>
              <a:rPr lang="en-US" sz="1500" b="1" dirty="0"/>
              <a:t>ProviderTagCatalog: </a:t>
            </a:r>
            <a:r>
              <a:rPr lang="en-US" sz="1500" dirty="0"/>
              <a:t>Predefined tag library for providers (e.g., coaching, wellness). Supports color and category for UI.</a:t>
            </a:r>
          </a:p>
          <a:p>
            <a:pPr marL="228600" indent="-228600">
              <a:buChar char="•"/>
            </a:pPr>
            <a:r>
              <a:rPr lang="en-US" sz="1500" b="1" dirty="0"/>
              <a:t>ProviderTagAssignment: </a:t>
            </a:r>
            <a:r>
              <a:rPr lang="en-US" sz="1500" dirty="0"/>
              <a:t>Junction table resolving M:N between Provider and ProviderTagCatalog. Composite PK (Identifying).</a:t>
            </a:r>
          </a:p>
          <a:p>
            <a:pPr marL="228600" indent="-228600">
              <a:buChar char="•"/>
            </a:pPr>
            <a:r>
              <a:rPr lang="en-US" sz="1500" b="1" dirty="0"/>
              <a:t>RoomTagCatalog: </a:t>
            </a:r>
            <a:r>
              <a:rPr lang="en-US" sz="1500" dirty="0"/>
              <a:t>Predefined category library for rooms (e.g., Motivation, Finance).</a:t>
            </a:r>
          </a:p>
          <a:p>
            <a:pPr marL="228600" indent="-228600">
              <a:buChar char="•"/>
            </a:pPr>
            <a:r>
              <a:rPr lang="en-US" sz="1500" b="1" dirty="0"/>
              <a:t>RoomTagAssignment: </a:t>
            </a:r>
            <a:r>
              <a:rPr lang="en-US" sz="1500" dirty="0"/>
              <a:t>Junction table resolving M:N between Room and RoomTagCatalog. Composite PK (Identifying).</a:t>
            </a:r>
          </a:p>
          <a:p>
            <a:pPr>
              <a:buNone/>
            </a:pPr>
            <a:endParaRPr lang="en-US" sz="1500" dirty="0"/>
          </a:p>
          <a:p>
            <a:pPr>
              <a:buNone/>
            </a:pPr>
            <a:r>
              <a:rPr lang="en-US" sz="1500" b="1" dirty="0"/>
              <a:t>Financial Module</a:t>
            </a:r>
          </a:p>
          <a:p>
            <a:pPr marL="228600" indent="-228600">
              <a:buChar char="•"/>
            </a:pPr>
            <a:r>
              <a:rPr lang="en-US" sz="1500" b="1" dirty="0"/>
              <a:t>AudioCall: </a:t>
            </a:r>
            <a:r>
              <a:rPr lang="en-US" sz="1500" dirty="0"/>
              <a:t>Records session-level call data. duration_seconds is a computed column. Preserved for financial auditing even if room is closed (Non-identifying).</a:t>
            </a:r>
          </a:p>
          <a:p>
            <a:pPr marL="228600" indent="-228600">
              <a:buChar char="•"/>
            </a:pPr>
            <a:r>
              <a:rPr lang="en-US" sz="1500" b="1" dirty="0"/>
              <a:t>AudioCallProvider: </a:t>
            </a:r>
            <a:r>
              <a:rPr lang="en-US" sz="1500" dirty="0"/>
              <a:t>Per-provider earnings per call. artist_earn is a computed column. Composite PK (Identifying).</a:t>
            </a:r>
          </a:p>
          <a:p>
            <a:pPr marL="228600" indent="-228600">
              <a:buChar char="•"/>
            </a:pPr>
            <a:r>
              <a:rPr lang="en-US" sz="1500" b="1" dirty="0"/>
              <a:t>Tip: </a:t>
            </a:r>
            <a:r>
              <a:rPr lang="en-US" sz="1500" dirty="0"/>
              <a:t>Immutable financial ledger for tips. Records sender_user_id for full audit trail. Amount validated by fn_ValidateTipAmount.</a:t>
            </a:r>
          </a:p>
        </p:txBody>
      </p:sp>
      <p:sp>
        <p:nvSpPr>
          <p:cNvPr id="20" name="AccentBar"/>
          <p:cNvSpPr>
            <a:spLocks noGrp="1"/>
          </p:cNvSpPr>
          <p:nvPr/>
        </p:nvSpPr>
        <p:spPr>
          <a:xfrm>
            <a:off x="457200" y="457200"/>
            <a:ext cx="91440" cy="800000"/>
          </a:xfrm>
          <a:prstGeom prst="rect">
            <a:avLst/>
          </a:prstGeom>
          <a:solidFill>
            <a:srgbClr val="EE822F"/>
          </a:solidFill>
          <a:ln>
            <a:noFill/>
          </a:ln>
        </p:spPr>
        <p:txBody>
          <a:bodyPr/>
          <a:lstStyle/>
          <a:p>
            <a:endParaRPr/>
          </a:p>
        </p:txBody>
      </p:sp>
      <p:sp>
        <p:nvSpPr>
          <p:cNvPr id="30" name="Strip_0"/>
          <p:cNvSpPr>
            <a:spLocks noGrp="1"/>
          </p:cNvSpPr>
          <p:nvPr/>
        </p:nvSpPr>
        <p:spPr>
          <a:xfrm>
            <a:off x="457200" y="1300000"/>
            <a:ext cx="60000" cy="2400000"/>
          </a:xfrm>
          <a:prstGeom prst="rect">
            <a:avLst/>
          </a:prstGeom>
          <a:solidFill>
            <a:srgbClr val="538135">
              <a:alpha val="60000"/>
            </a:srgbClr>
          </a:solidFill>
          <a:ln>
            <a:noFill/>
          </a:ln>
        </p:spPr>
        <p:txBody>
          <a:bodyPr/>
          <a:lstStyle/>
          <a:p>
            <a:endParaRPr/>
          </a:p>
        </p:txBody>
      </p:sp>
      <p:sp>
        <p:nvSpPr>
          <p:cNvPr id="31" name="Strip_1"/>
          <p:cNvSpPr>
            <a:spLocks noGrp="1"/>
          </p:cNvSpPr>
          <p:nvPr/>
        </p:nvSpPr>
        <p:spPr>
          <a:xfrm>
            <a:off x="457200" y="3700000"/>
            <a:ext cx="60000" cy="2400000"/>
          </a:xfrm>
          <a:prstGeom prst="rect">
            <a:avLst/>
          </a:prstGeom>
          <a:solidFill>
            <a:srgbClr val="843C0C">
              <a:alpha val="60000"/>
            </a:srgbClr>
          </a:solidFill>
          <a:ln>
            <a:noFill/>
          </a:ln>
        </p:spPr>
        <p:txBody>
          <a:bodyPr/>
          <a:lstStyle/>
          <a:p>
            <a:endParaRPr/>
          </a:p>
        </p:txBody>
      </p:sp>
    </p:spTree>
    <p:extLst>
      <p:ext uri="{BB962C8B-B14F-4D97-AF65-F5344CB8AC3E}">
        <p14:creationId xmlns:p14="http://schemas.microsoft.com/office/powerpoint/2010/main" val="964544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D4523E-194D-2CE8-1173-E191760B442C}"/>
              </a:ext>
            </a:extLst>
          </p:cNvPr>
          <p:cNvSpPr>
            <a:spLocks noGrp="1"/>
          </p:cNvSpPr>
          <p:nvPr>
            <p:ph type="title"/>
          </p:nvPr>
        </p:nvSpPr>
        <p:spPr>
          <a:xfrm>
            <a:off x="477981" y="1122363"/>
            <a:ext cx="4023360" cy="3204134"/>
          </a:xfrm>
        </p:spPr>
        <p:txBody>
          <a:bodyPr vert="horz" lIns="91440" tIns="45720" rIns="91440" bIns="45720" rtlCol="0" anchor="b">
            <a:normAutofit/>
          </a:bodyPr>
          <a:lstStyle/>
          <a:p>
            <a:pPr>
              <a:lnSpc>
                <a:spcPct val="90000"/>
              </a:lnSpc>
            </a:pPr>
            <a:r>
              <a:rPr lang="en-US" altLang="zh-CN" sz="4800" kern="1200">
                <a:solidFill>
                  <a:schemeClr val="tx1"/>
                </a:solidFill>
                <a:latin typeface="+mj-lt"/>
                <a:ea typeface="+mj-ea"/>
                <a:cs typeface="+mj-cs"/>
              </a:rPr>
              <a:t>Final ERD</a:t>
            </a:r>
          </a:p>
        </p:txBody>
      </p:sp>
      <p:pic>
        <p:nvPicPr>
          <p:cNvPr id="6" name="Content Placeholder 5" descr="A diagram of a computer&#10;&#10;AI-generated content may be incorrect.">
            <a:extLst>
              <a:ext uri="{FF2B5EF4-FFF2-40B4-BE49-F238E27FC236}">
                <a16:creationId xmlns:a16="http://schemas.microsoft.com/office/drawing/2014/main" id="{C312A197-A0BB-89BD-95D4-582AAFC1E1FB}"/>
              </a:ext>
            </a:extLst>
          </p:cNvPr>
          <p:cNvPicPr>
            <a:picLocks noGrp="1" noChangeAspect="1"/>
          </p:cNvPicPr>
          <p:nvPr>
            <p:ph idx="1"/>
          </p:nvPr>
        </p:nvPicPr>
        <p:blipFill>
          <a:blip r:embed="rId2"/>
          <a:stretch>
            <a:fillRect/>
          </a:stretch>
        </p:blipFill>
        <p:spPr>
          <a:xfrm>
            <a:off x="3730776" y="2255"/>
            <a:ext cx="7829582" cy="6848455"/>
          </a:xfrm>
          <a:prstGeom prst="rect">
            <a:avLst/>
          </a:prstGeom>
        </p:spPr>
      </p:pic>
    </p:spTree>
    <p:extLst>
      <p:ext uri="{BB962C8B-B14F-4D97-AF65-F5344CB8AC3E}">
        <p14:creationId xmlns:p14="http://schemas.microsoft.com/office/powerpoint/2010/main" val="77243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ar"/>
          <p:cNvSpPr>
            <a:spLocks noGrp="1"/>
          </p:cNvSpPr>
          <p:nvPr/>
        </p:nvSpPr>
        <p:spPr>
          <a:xfrm>
            <a:off x="457200" y="457200"/>
            <a:ext cx="91440" cy="800000"/>
          </a:xfrm>
          <a:prstGeom prst="rect">
            <a:avLst/>
          </a:prstGeom>
          <a:solidFill>
            <a:srgbClr val="EE822F"/>
          </a:solidFill>
          <a:ln>
            <a:noFill/>
          </a:ln>
        </p:spPr>
        <p:txBody>
          <a:bodyPr/>
          <a:lstStyle/>
          <a:p>
            <a:endParaRPr/>
          </a:p>
        </p:txBody>
      </p:sp>
      <p:sp>
        <p:nvSpPr>
          <p:cNvPr id="2" name="Title"/>
          <p:cNvSpPr>
            <a:spLocks noGrp="1"/>
          </p:cNvSpPr>
          <p:nvPr>
            <p:ph type="title"/>
          </p:nvPr>
        </p:nvSpPr>
        <p:spPr>
          <a:xfrm>
            <a:off x="457200" y="457200"/>
            <a:ext cx="11277600" cy="800000"/>
          </a:xfrm>
        </p:spPr>
        <p:txBody>
          <a:bodyPr/>
          <a:lstStyle/>
          <a:p>
            <a:r>
              <a:rPr lang="en-US"/>
              <a:t>SQL File Structure:</a:t>
            </a:r>
          </a:p>
        </p:txBody>
      </p:sp>
      <p:sp>
        <p:nvSpPr>
          <p:cNvPr id="3" name="Box_3"/>
          <p:cNvSpPr txBox="1"/>
          <p:nvPr/>
        </p:nvSpPr>
        <p:spPr>
          <a:xfrm>
            <a:off x="457200" y="1485800"/>
            <a:ext cx="2706900" cy="2382500"/>
          </a:xfrm>
          <a:prstGeom prst="rect">
            <a:avLst/>
          </a:prstGeom>
          <a:solidFill>
            <a:srgbClr val="4472C4">
              <a:alpha val="15000"/>
            </a:srgbClr>
          </a:solidFill>
          <a:ln w="18000">
            <a:solidFill>
              <a:srgbClr val="4472C4"/>
            </a:solidFill>
          </a:ln>
        </p:spPr>
        <p:txBody>
          <a:bodyPr wrap="square" lIns="120000" tIns="120000" rIns="120000" bIns="60000"/>
          <a:lstStyle/>
          <a:p>
            <a:pPr>
              <a:buNone/>
            </a:pPr>
            <a:r>
              <a:rPr lang="en-US" sz="1300" b="1">
                <a:solidFill>
                  <a:srgbClr val="4472C4"/>
                </a:solidFill>
                <a:latin typeface="Arial"/>
                <a:cs typeface="Arial"/>
              </a:rPr>
              <a:t>0  CREATE DATABASE</a:t>
            </a:r>
          </a:p>
          <a:p>
            <a:pPr marL="0">
              <a:buNone/>
            </a:pPr>
            <a:r>
              <a:rPr lang="en-US" sz="1100" b="0">
                <a:solidFill>
                  <a:srgbClr val="333333"/>
                </a:solidFill>
                <a:latin typeface="Arial"/>
                <a:cs typeface="Arial"/>
              </a:rPr>
              <a:t>1 statement</a:t>
            </a:r>
          </a:p>
        </p:txBody>
      </p:sp>
      <p:sp>
        <p:nvSpPr>
          <p:cNvPr id="4" name="Box_4"/>
          <p:cNvSpPr txBox="1"/>
          <p:nvPr/>
        </p:nvSpPr>
        <p:spPr>
          <a:xfrm>
            <a:off x="3314100" y="1485800"/>
            <a:ext cx="2706900" cy="2382500"/>
          </a:xfrm>
          <a:prstGeom prst="rect">
            <a:avLst/>
          </a:prstGeom>
          <a:solidFill>
            <a:srgbClr val="44546A">
              <a:alpha val="15000"/>
            </a:srgbClr>
          </a:solidFill>
          <a:ln w="18000">
            <a:solidFill>
              <a:srgbClr val="44546A"/>
            </a:solidFill>
          </a:ln>
        </p:spPr>
        <p:txBody>
          <a:bodyPr wrap="square" lIns="120000" tIns="120000" rIns="120000" bIns="60000"/>
          <a:lstStyle/>
          <a:p>
            <a:pPr>
              <a:buNone/>
            </a:pPr>
            <a:r>
              <a:rPr lang="en-US" sz="1300" b="1">
                <a:solidFill>
                  <a:srgbClr val="44546A"/>
                </a:solidFill>
                <a:latin typeface="Arial"/>
                <a:cs typeface="Arial"/>
              </a:rPr>
              <a:t>1  DROP TABLES</a:t>
            </a:r>
          </a:p>
          <a:p>
            <a:pPr marL="0">
              <a:buNone/>
            </a:pPr>
            <a:r>
              <a:rPr lang="en-US" sz="1100" b="0">
                <a:solidFill>
                  <a:srgbClr val="333333"/>
                </a:solidFill>
                <a:latin typeface="Arial"/>
                <a:cs typeface="Arial"/>
              </a:rPr>
              <a:t>13 tables
in dependency order</a:t>
            </a:r>
          </a:p>
        </p:txBody>
      </p:sp>
      <p:sp>
        <p:nvSpPr>
          <p:cNvPr id="5" name="Box_5"/>
          <p:cNvSpPr txBox="1"/>
          <p:nvPr/>
        </p:nvSpPr>
        <p:spPr>
          <a:xfrm>
            <a:off x="6171000" y="1485800"/>
            <a:ext cx="2706900" cy="2382500"/>
          </a:xfrm>
          <a:prstGeom prst="rect">
            <a:avLst/>
          </a:prstGeom>
          <a:solidFill>
            <a:srgbClr val="EE822F">
              <a:alpha val="15000"/>
            </a:srgbClr>
          </a:solidFill>
          <a:ln w="18000">
            <a:solidFill>
              <a:srgbClr val="EE822F"/>
            </a:solidFill>
          </a:ln>
        </p:spPr>
        <p:txBody>
          <a:bodyPr wrap="square" lIns="120000" tIns="120000" rIns="120000" bIns="60000"/>
          <a:lstStyle/>
          <a:p>
            <a:pPr>
              <a:buNone/>
            </a:pPr>
            <a:r>
              <a:rPr lang="en-US" sz="1300" b="1">
                <a:solidFill>
                  <a:srgbClr val="EE822F"/>
                </a:solidFill>
                <a:latin typeface="Arial"/>
                <a:cs typeface="Arial"/>
              </a:rPr>
              <a:t>2  DROP + CREATE
    FUNCTIONS</a:t>
            </a:r>
          </a:p>
          <a:p>
            <a:pPr marL="0">
              <a:buNone/>
            </a:pPr>
            <a:r>
              <a:rPr lang="en-US" sz="1100" b="0">
                <a:solidFill>
                  <a:srgbClr val="333333"/>
                </a:solidFill>
                <a:latin typeface="Arial"/>
                <a:cs typeface="Arial"/>
              </a:rPr>
              <a:t>4 scalar functions:
fn_ComputeCallDuration
fn_ComputeArtistEarn
fn_ValidateTipAmount
fn_ValidateCallDuration</a:t>
            </a:r>
          </a:p>
        </p:txBody>
      </p:sp>
      <p:sp>
        <p:nvSpPr>
          <p:cNvPr id="6" name="Box_6"/>
          <p:cNvSpPr txBox="1"/>
          <p:nvPr/>
        </p:nvSpPr>
        <p:spPr>
          <a:xfrm>
            <a:off x="9027900" y="1485800"/>
            <a:ext cx="2706900" cy="2382500"/>
          </a:xfrm>
          <a:prstGeom prst="rect">
            <a:avLst/>
          </a:prstGeom>
          <a:solidFill>
            <a:srgbClr val="538135">
              <a:alpha val="15000"/>
            </a:srgbClr>
          </a:solidFill>
          <a:ln w="18000">
            <a:solidFill>
              <a:srgbClr val="538135"/>
            </a:solidFill>
          </a:ln>
        </p:spPr>
        <p:txBody>
          <a:bodyPr wrap="square" lIns="120000" tIns="120000" rIns="120000" bIns="60000"/>
          <a:lstStyle/>
          <a:p>
            <a:pPr>
              <a:buNone/>
            </a:pPr>
            <a:r>
              <a:rPr lang="en-US" sz="1300" b="1">
                <a:solidFill>
                  <a:srgbClr val="538135"/>
                </a:solidFill>
                <a:latin typeface="Arial"/>
                <a:cs typeface="Arial"/>
              </a:rPr>
              <a:t>3  CREATE TABLES</a:t>
            </a:r>
          </a:p>
          <a:p>
            <a:pPr marL="0">
              <a:buNone/>
            </a:pPr>
            <a:r>
              <a:rPr lang="en-US" sz="1100" b="0">
                <a:solidFill>
                  <a:srgbClr val="333333"/>
                </a:solidFill>
                <a:latin typeface="Arial"/>
                <a:cs typeface="Arial"/>
              </a:rPr>
              <a:t>13 tables with PK · FK · CHECK
Computed Columns</a:t>
            </a:r>
          </a:p>
        </p:txBody>
      </p:sp>
      <p:sp>
        <p:nvSpPr>
          <p:cNvPr id="7" name="Box_7"/>
          <p:cNvSpPr txBox="1"/>
          <p:nvPr/>
        </p:nvSpPr>
        <p:spPr>
          <a:xfrm>
            <a:off x="457200" y="4018300"/>
            <a:ext cx="3659200" cy="2382500"/>
          </a:xfrm>
          <a:prstGeom prst="rect">
            <a:avLst/>
          </a:prstGeom>
          <a:solidFill>
            <a:srgbClr val="7030A0">
              <a:alpha val="15000"/>
            </a:srgbClr>
          </a:solidFill>
          <a:ln w="18000">
            <a:solidFill>
              <a:srgbClr val="7030A0"/>
            </a:solidFill>
          </a:ln>
        </p:spPr>
        <p:txBody>
          <a:bodyPr wrap="square" lIns="120000" tIns="120000" rIns="120000" bIns="60000"/>
          <a:lstStyle/>
          <a:p>
            <a:pPr>
              <a:buNone/>
            </a:pPr>
            <a:r>
              <a:rPr lang="en-US" sz="1300" b="1">
                <a:solidFill>
                  <a:srgbClr val="7030A0"/>
                </a:solidFill>
                <a:latin typeface="Arial"/>
                <a:cs typeface="Arial"/>
              </a:rPr>
              <a:t>4  INSERT DATA</a:t>
            </a:r>
          </a:p>
          <a:p>
            <a:pPr marL="0">
              <a:buNone/>
            </a:pPr>
            <a:r>
              <a:rPr lang="en-US" sz="1100" b="0">
                <a:solidFill>
                  <a:srgbClr val="333333"/>
                </a:solidFill>
                <a:latin typeface="Arial"/>
                <a:cs typeface="Arial"/>
              </a:rPr>
              <a:t>10+ rows per table
(15 Users, 10 each others)</a:t>
            </a:r>
          </a:p>
        </p:txBody>
      </p:sp>
      <p:sp>
        <p:nvSpPr>
          <p:cNvPr id="8" name="Box_8"/>
          <p:cNvSpPr txBox="1"/>
          <p:nvPr/>
        </p:nvSpPr>
        <p:spPr>
          <a:xfrm>
            <a:off x="4266400" y="4018300"/>
            <a:ext cx="3659200" cy="2382500"/>
          </a:xfrm>
          <a:prstGeom prst="rect">
            <a:avLst/>
          </a:prstGeom>
          <a:solidFill>
            <a:srgbClr val="843C0C">
              <a:alpha val="15000"/>
            </a:srgbClr>
          </a:solidFill>
          <a:ln w="18000">
            <a:solidFill>
              <a:srgbClr val="843C0C"/>
            </a:solidFill>
          </a:ln>
        </p:spPr>
        <p:txBody>
          <a:bodyPr wrap="square" lIns="120000" tIns="120000" rIns="120000" bIns="60000"/>
          <a:lstStyle/>
          <a:p>
            <a:pPr>
              <a:buNone/>
            </a:pPr>
            <a:r>
              <a:rPr lang="en-US" sz="1300" b="1">
                <a:solidFill>
                  <a:srgbClr val="843C0C"/>
                </a:solidFill>
                <a:latin typeface="Arial"/>
                <a:cs typeface="Arial"/>
              </a:rPr>
              <a:t>5  CREATE VIEWS</a:t>
            </a:r>
          </a:p>
          <a:p>
            <a:pPr marL="0">
              <a:buNone/>
            </a:pPr>
            <a:r>
              <a:rPr lang="en-US" sz="1100" b="0">
                <a:solidFill>
                  <a:srgbClr val="333333"/>
                </a:solidFill>
                <a:latin typeface="Arial"/>
                <a:cs typeface="Arial"/>
              </a:rPr>
              <a:t>3 views:
vw_ProviderEarningsSummary
vw_ActiveRoomOverview
</a:t>
            </a:r>
            <a:r>
              <a:rPr lang="en-US" sz="1100" b="0" err="1">
                <a:solidFill>
                  <a:srgbClr val="333333"/>
                </a:solidFill>
                <a:latin typeface="Arial"/>
                <a:cs typeface="Arial"/>
              </a:rPr>
              <a:t>vw_MemberRoomActivitySummary</a:t>
            </a:r>
            <a:endParaRPr lang="en-US" sz="1100" b="0">
              <a:solidFill>
                <a:srgbClr val="333333"/>
              </a:solidFill>
              <a:latin typeface="Arial"/>
              <a:cs typeface="Arial"/>
            </a:endParaRPr>
          </a:p>
        </p:txBody>
      </p:sp>
      <p:sp>
        <p:nvSpPr>
          <p:cNvPr id="9" name="Box_9"/>
          <p:cNvSpPr txBox="1"/>
          <p:nvPr/>
        </p:nvSpPr>
        <p:spPr>
          <a:xfrm>
            <a:off x="8075600" y="4018300"/>
            <a:ext cx="3659200" cy="2382500"/>
          </a:xfrm>
          <a:prstGeom prst="rect">
            <a:avLst/>
          </a:prstGeom>
          <a:solidFill>
            <a:srgbClr val="44546A">
              <a:alpha val="15000"/>
            </a:srgbClr>
          </a:solidFill>
          <a:ln w="18000">
            <a:solidFill>
              <a:srgbClr val="44546A"/>
            </a:solidFill>
          </a:ln>
        </p:spPr>
        <p:txBody>
          <a:bodyPr wrap="square" lIns="120000" tIns="120000" rIns="120000" bIns="60000"/>
          <a:lstStyle/>
          <a:p>
            <a:pPr>
              <a:buNone/>
            </a:pPr>
            <a:r>
              <a:rPr lang="en-US" sz="1300" b="1">
                <a:solidFill>
                  <a:srgbClr val="44546A"/>
                </a:solidFill>
                <a:latin typeface="Arial"/>
                <a:cs typeface="Arial"/>
              </a:rPr>
              <a:t>6  VERIFICATION
    QUERIES</a:t>
            </a:r>
          </a:p>
          <a:p>
            <a:pPr marL="0">
              <a:buNone/>
            </a:pPr>
            <a:r>
              <a:rPr lang="en-US" sz="1100" b="0">
                <a:solidFill>
                  <a:srgbClr val="333333"/>
                </a:solidFill>
                <a:latin typeface="Arial"/>
                <a:cs typeface="Arial"/>
              </a:rPr>
              <a:t>Row counts
Computed column check
View previews</a:t>
            </a:r>
          </a:p>
        </p:txBody>
      </p:sp>
    </p:spTree>
    <p:extLst>
      <p:ext uri="{BB962C8B-B14F-4D97-AF65-F5344CB8AC3E}">
        <p14:creationId xmlns:p14="http://schemas.microsoft.com/office/powerpoint/2010/main" val="1801265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ar"/>
          <p:cNvSpPr>
            <a:spLocks noGrp="1"/>
          </p:cNvSpPr>
          <p:nvPr/>
        </p:nvSpPr>
        <p:spPr>
          <a:xfrm>
            <a:off x="457200" y="457200"/>
            <a:ext cx="91440" cy="800000"/>
          </a:xfrm>
          <a:prstGeom prst="rect">
            <a:avLst/>
          </a:prstGeom>
          <a:solidFill>
            <a:srgbClr val="EE822F"/>
          </a:solidFill>
          <a:ln>
            <a:noFill/>
          </a:ln>
        </p:spPr>
        <p:txBody>
          <a:bodyPr/>
          <a:lstStyle/>
          <a:p>
            <a:endParaRPr/>
          </a:p>
        </p:txBody>
      </p:sp>
      <p:sp>
        <p:nvSpPr>
          <p:cNvPr id="2" name="Title"/>
          <p:cNvSpPr>
            <a:spLocks noGrp="1"/>
          </p:cNvSpPr>
          <p:nvPr>
            <p:ph type="title"/>
          </p:nvPr>
        </p:nvSpPr>
        <p:spPr>
          <a:xfrm>
            <a:off x="457200" y="457200"/>
            <a:ext cx="11277600" cy="800000"/>
          </a:xfrm>
        </p:spPr>
        <p:txBody>
          <a:bodyPr/>
          <a:lstStyle/>
          <a:p>
            <a:r>
              <a:rPr lang="en-US"/>
              <a:t>SQL DDL Implementation</a:t>
            </a:r>
          </a:p>
        </p:txBody>
      </p:sp>
      <p:sp>
        <p:nvSpPr>
          <p:cNvPr id="3" name="Code"/>
          <p:cNvSpPr txBox="1"/>
          <p:nvPr/>
        </p:nvSpPr>
        <p:spPr>
          <a:xfrm>
            <a:off x="557200" y="1485800"/>
            <a:ext cx="5424500" cy="5095474"/>
          </a:xfrm>
          <a:prstGeom prst="rect">
            <a:avLst/>
          </a:prstGeom>
          <a:solidFill>
            <a:srgbClr val="1E1E1E"/>
          </a:solidFill>
        </p:spPr>
        <p:txBody>
          <a:bodyPr wrap="square" lIns="91440" tIns="91440" rIns="91440" bIns="91440"/>
          <a:lstStyle/>
          <a:p>
            <a:pPr marL="91440">
              <a:buNone/>
            </a:pPr>
            <a:r>
              <a:rPr lang="en-US" sz="1000" b="0">
                <a:solidFill>
                  <a:srgbClr val="6A9955"/>
                </a:solidFill>
                <a:latin typeface="Consolas"/>
              </a:rPr>
              <a:t>-- 1. Computed Column: AudioCall</a:t>
            </a:r>
          </a:p>
          <a:p>
            <a:pPr marL="91440">
              <a:buNone/>
            </a:pPr>
            <a:r>
              <a:rPr lang="en-US" sz="1000" b="0">
                <a:solidFill>
                  <a:srgbClr val="9CDCFE"/>
                </a:solidFill>
                <a:latin typeface="Consolas"/>
              </a:rPr>
              <a:t>duration_seconds</a:t>
            </a:r>
          </a:p>
          <a:p>
            <a:pPr marL="91440">
              <a:buNone/>
            </a:pPr>
            <a:r>
              <a:rPr lang="en-US" sz="1000" b="0">
                <a:solidFill>
                  <a:srgbClr val="DCDCAA"/>
                </a:solidFill>
                <a:latin typeface="Consolas"/>
              </a:rPr>
              <a:t>  AS fn_ComputeCallDuration(start_time, end_time)</a:t>
            </a:r>
          </a:p>
          <a:p>
            <a:pPr marL="91440">
              <a:buNone/>
            </a:pPr>
            <a:endParaRPr lang="en-US" sz="1000" b="0">
              <a:solidFill>
                <a:srgbClr val="DCDCAA"/>
              </a:solidFill>
              <a:latin typeface="Consolas"/>
            </a:endParaRPr>
          </a:p>
          <a:p>
            <a:pPr marL="91440">
              <a:buNone/>
            </a:pPr>
            <a:r>
              <a:rPr lang="en-US" sz="1000" b="0">
                <a:solidFill>
                  <a:srgbClr val="6A9955"/>
                </a:solidFill>
                <a:latin typeface="Consolas"/>
              </a:rPr>
              <a:t>-- fn_ComputeCallDuration</a:t>
            </a:r>
          </a:p>
          <a:p>
            <a:pPr marL="91440">
              <a:buNone/>
            </a:pPr>
            <a:r>
              <a:rPr lang="en-US" sz="1000" b="0">
                <a:solidFill>
                  <a:srgbClr val="FFFFFF"/>
                </a:solidFill>
                <a:latin typeface="Consolas"/>
              </a:rPr>
              <a:t>RETURNS INT: DATEDIFF(SECOND, @start, @end)</a:t>
            </a:r>
          </a:p>
          <a:p>
            <a:pPr marL="91440">
              <a:buNone/>
            </a:pPr>
            <a:endParaRPr lang="en-US" sz="1000" b="0">
              <a:solidFill>
                <a:srgbClr val="FFFFFF"/>
              </a:solidFill>
              <a:latin typeface="Consolas"/>
            </a:endParaRPr>
          </a:p>
          <a:p>
            <a:pPr marL="91440">
              <a:buNone/>
            </a:pPr>
            <a:r>
              <a:rPr lang="en-US" sz="1000" b="0">
                <a:solidFill>
                  <a:srgbClr val="6A9955"/>
                </a:solidFill>
                <a:latin typeface="Consolas"/>
              </a:rPr>
              <a:t>-- 2. Computed Column: AudioCallProvider</a:t>
            </a:r>
          </a:p>
          <a:p>
            <a:pPr marL="91440">
              <a:buNone/>
            </a:pPr>
            <a:r>
              <a:rPr lang="en-US" sz="1000" b="0">
                <a:solidFill>
                  <a:srgbClr val="9CDCFE"/>
                </a:solidFill>
                <a:latin typeface="Consolas"/>
              </a:rPr>
              <a:t>artist_earn</a:t>
            </a:r>
          </a:p>
          <a:p>
            <a:pPr marL="91440">
              <a:buNone/>
            </a:pPr>
            <a:r>
              <a:rPr lang="en-US" sz="1000" b="0">
                <a:solidFill>
                  <a:srgbClr val="DCDCAA"/>
                </a:solidFill>
                <a:latin typeface="Consolas"/>
              </a:rPr>
              <a:t>  AS fn_ComputeArtistEarn(price_tokens, duration_seconds)</a:t>
            </a:r>
          </a:p>
          <a:p>
            <a:pPr marL="91440">
              <a:buNone/>
            </a:pPr>
            <a:endParaRPr lang="en-US" sz="1000" b="0">
              <a:solidFill>
                <a:srgbClr val="DCDCAA"/>
              </a:solidFill>
              <a:latin typeface="Consolas"/>
            </a:endParaRPr>
          </a:p>
          <a:p>
            <a:pPr marL="91440">
              <a:buNone/>
            </a:pPr>
            <a:r>
              <a:rPr lang="en-US" sz="1000" b="0">
                <a:solidFill>
                  <a:srgbClr val="6A9955"/>
                </a:solidFill>
                <a:latin typeface="Consolas"/>
              </a:rPr>
              <a:t>-- fn_ComputeArtistEarn</a:t>
            </a:r>
          </a:p>
          <a:p>
            <a:pPr marL="91440">
              <a:buNone/>
            </a:pPr>
            <a:r>
              <a:rPr lang="en-US" sz="1000" b="0">
                <a:solidFill>
                  <a:srgbClr val="FFFFFF"/>
                </a:solidFill>
                <a:latin typeface="Consolas"/>
              </a:rPr>
              <a:t>RETURNS INT:</a:t>
            </a:r>
          </a:p>
          <a:p>
            <a:pPr marL="91440">
              <a:buNone/>
            </a:pPr>
            <a:r>
              <a:rPr lang="en-US" sz="1000" b="0">
                <a:solidFill>
                  <a:srgbClr val="FFFFFF"/>
                </a:solidFill>
                <a:latin typeface="Consolas"/>
              </a:rPr>
              <a:t>  CAST(price_tokens * duration_seconds</a:t>
            </a:r>
          </a:p>
          <a:p>
            <a:pPr marL="91440">
              <a:buNone/>
            </a:pPr>
            <a:r>
              <a:rPr lang="en-US" sz="1000" b="0">
                <a:solidFill>
                  <a:srgbClr val="9CDCFE"/>
                </a:solidFill>
                <a:latin typeface="Consolas"/>
              </a:rPr>
              <a:t>    / 60.0 * 0.80 AS INT)</a:t>
            </a:r>
          </a:p>
          <a:p>
            <a:pPr marL="91440">
              <a:buNone/>
            </a:pPr>
            <a:r>
              <a:rPr lang="en-US" sz="1000" b="0">
                <a:solidFill>
                  <a:srgbClr val="6A9955"/>
                </a:solidFill>
                <a:latin typeface="Consolas"/>
              </a:rPr>
              <a:t>  -- 80% revenue after 20% platform fee</a:t>
            </a:r>
          </a:p>
          <a:p>
            <a:pPr marL="91440">
              <a:buNone/>
            </a:pPr>
            <a:endParaRPr lang="en-US" sz="1000" b="0">
              <a:solidFill>
                <a:srgbClr val="6A9955"/>
              </a:solidFill>
              <a:latin typeface="Consolas"/>
            </a:endParaRPr>
          </a:p>
          <a:p>
            <a:pPr marL="91440">
              <a:buNone/>
            </a:pPr>
            <a:r>
              <a:rPr lang="en-US" sz="1000" b="0">
                <a:solidFill>
                  <a:srgbClr val="6A9955"/>
                </a:solidFill>
                <a:latin typeface="Consolas"/>
              </a:rPr>
              <a:t>-- 3. CHECK: fn_ValidateTipAmount</a:t>
            </a:r>
          </a:p>
          <a:p>
            <a:pPr marL="91440">
              <a:buNone/>
            </a:pPr>
            <a:r>
              <a:rPr lang="en-US" sz="1000" b="0">
                <a:solidFill>
                  <a:srgbClr val="DCDCAA"/>
                </a:solidFill>
                <a:latin typeface="Consolas"/>
              </a:rPr>
              <a:t>CONSTRAINT CK_Tip_Amount CHECK (</a:t>
            </a:r>
          </a:p>
          <a:p>
            <a:pPr marL="91440">
              <a:buNone/>
            </a:pPr>
            <a:r>
              <a:rPr lang="en-US" sz="1000" b="0">
                <a:solidFill>
                  <a:srgbClr val="FFFFFF"/>
                </a:solidFill>
                <a:latin typeface="Consolas"/>
              </a:rPr>
              <a:t>  fn_ValidateTipAmount(tip_amount_tokens) = 1)</a:t>
            </a:r>
          </a:p>
          <a:p>
            <a:pPr marL="91440">
              <a:buNone/>
            </a:pPr>
            <a:r>
              <a:rPr lang="en-US" sz="1000" b="0">
                <a:solidFill>
                  <a:srgbClr val="9CDCFE"/>
                </a:solidFill>
                <a:latin typeface="Consolas"/>
              </a:rPr>
              <a:t>RETURNS 1 if amount &gt; 0 AND amount &lt;= 9999</a:t>
            </a:r>
          </a:p>
          <a:p>
            <a:pPr marL="91440">
              <a:buNone/>
            </a:pPr>
            <a:endParaRPr lang="en-US" sz="1000" b="0">
              <a:solidFill>
                <a:srgbClr val="9CDCFE"/>
              </a:solidFill>
              <a:latin typeface="Consolas"/>
            </a:endParaRPr>
          </a:p>
          <a:p>
            <a:pPr marL="91440">
              <a:buNone/>
            </a:pPr>
            <a:r>
              <a:rPr lang="en-US" sz="1000" b="0">
                <a:solidFill>
                  <a:srgbClr val="6A9955"/>
                </a:solidFill>
                <a:latin typeface="Consolas"/>
              </a:rPr>
              <a:t>-- 4. CHECK: fn_ValidateCallDuration</a:t>
            </a:r>
          </a:p>
          <a:p>
            <a:pPr marL="91440">
              <a:buNone/>
            </a:pPr>
            <a:r>
              <a:rPr lang="en-US" sz="1000" b="0">
                <a:solidFill>
                  <a:srgbClr val="DCDCAA"/>
                </a:solidFill>
                <a:latin typeface="Consolas"/>
              </a:rPr>
              <a:t>CONSTRAINT CK_ACP_Duration CHECK (</a:t>
            </a:r>
          </a:p>
          <a:p>
            <a:pPr marL="91440">
              <a:buNone/>
            </a:pPr>
            <a:r>
              <a:rPr lang="en-US" sz="1000" b="0">
                <a:solidFill>
                  <a:srgbClr val="FFFFFF"/>
                </a:solidFill>
                <a:latin typeface="Consolas"/>
              </a:rPr>
              <a:t>  duration_seconds IS NULL OR</a:t>
            </a:r>
          </a:p>
          <a:p>
            <a:pPr marL="91440">
              <a:buNone/>
            </a:pPr>
            <a:r>
              <a:rPr lang="en-US" sz="1000" b="0">
                <a:solidFill>
                  <a:srgbClr val="FFFFFF"/>
                </a:solidFill>
                <a:latin typeface="Consolas"/>
              </a:rPr>
              <a:t>  fn_ValidateCallDuration(duration_seconds) = 1)</a:t>
            </a:r>
          </a:p>
          <a:p>
            <a:pPr marL="91440">
              <a:buNone/>
            </a:pPr>
            <a:r>
              <a:rPr lang="en-US" sz="1000" b="0">
                <a:solidFill>
                  <a:srgbClr val="9CDCFE"/>
                </a:solidFill>
                <a:latin typeface="Consolas"/>
              </a:rPr>
              <a:t>RETURNS 1 if seconds &gt; 0</a:t>
            </a:r>
          </a:p>
          <a:p>
            <a:pPr marL="91440">
              <a:buNone/>
            </a:pPr>
            <a:endParaRPr lang="en-US" sz="1000" b="0">
              <a:solidFill>
                <a:srgbClr val="9CDCFE"/>
              </a:solidFill>
              <a:latin typeface="Consolas"/>
            </a:endParaRPr>
          </a:p>
          <a:p>
            <a:pPr marL="91440">
              <a:buNone/>
            </a:pPr>
            <a:r>
              <a:rPr lang="en-US" sz="1000" b="0">
                <a:solidFill>
                  <a:srgbClr val="6A9955"/>
                </a:solidFill>
                <a:latin typeface="Consolas"/>
              </a:rPr>
              <a:t>-- 5. RoomMessage IDENTITY PK</a:t>
            </a:r>
          </a:p>
          <a:p>
            <a:pPr marL="91440">
              <a:buNone/>
            </a:pPr>
            <a:r>
              <a:rPr lang="en-US" sz="1000" b="0">
                <a:solidFill>
                  <a:srgbClr val="9CDCFE"/>
                </a:solidFill>
                <a:latin typeface="Consolas"/>
              </a:rPr>
              <a:t>message_id INT NOT NULL IDENTITY(1,1)</a:t>
            </a:r>
          </a:p>
          <a:p>
            <a:pPr marL="91440">
              <a:buNone/>
            </a:pPr>
            <a:r>
              <a:rPr lang="en-US" sz="1000" b="0">
                <a:solidFill>
                  <a:srgbClr val="6A9955"/>
                </a:solidFill>
                <a:latin typeface="Consolas"/>
              </a:rPr>
              <a:t>  -- auto-increment = chronological order</a:t>
            </a:r>
          </a:p>
          <a:p>
            <a:pPr marL="91440">
              <a:buNone/>
            </a:pPr>
            <a:r>
              <a:rPr lang="en-US" sz="1000" b="0">
                <a:solidFill>
                  <a:srgbClr val="DCDCAA"/>
                </a:solidFill>
                <a:latin typeface="Consolas"/>
              </a:rPr>
              <a:t>CONSTRAINT PK_RoomMessage PRIMARY KEY (message_id)</a:t>
            </a:r>
          </a:p>
        </p:txBody>
      </p:sp>
      <p:sp>
        <p:nvSpPr>
          <p:cNvPr id="4" name="Notes"/>
          <p:cNvSpPr txBox="1"/>
          <p:nvPr/>
        </p:nvSpPr>
        <p:spPr>
          <a:xfrm>
            <a:off x="6210300" y="1485800"/>
            <a:ext cx="5524500" cy="4915000"/>
          </a:xfrm>
          <a:prstGeom prst="rect">
            <a:avLst/>
          </a:prstGeom>
          <a:noFill/>
        </p:spPr>
        <p:txBody>
          <a:bodyPr wrap="square" lIns="91440" tIns="91440" rIns="91440" bIns="91440" anchor="t"/>
          <a:lstStyle/>
          <a:p>
            <a:pPr>
              <a:buNone/>
            </a:pPr>
            <a:r>
              <a:rPr lang="en-US" sz="1500" b="1">
                <a:solidFill>
                  <a:srgbClr val="EE822F"/>
                </a:solidFill>
                <a:latin typeface="Arial"/>
              </a:rPr>
              <a:t>Implementation Highlights</a:t>
            </a:r>
            <a:endParaRPr lang="en-US" sz="1500" b="1">
              <a:solidFill>
                <a:srgbClr val="EE822F"/>
              </a:solidFill>
              <a:latin typeface="Arial"/>
              <a:cs typeface="Arial"/>
            </a:endParaRPr>
          </a:p>
          <a:p>
            <a:pPr>
              <a:buNone/>
            </a:pPr>
            <a:endParaRPr lang="en-US" sz="1500" b="1">
              <a:solidFill>
                <a:srgbClr val="EE822F"/>
              </a:solidFill>
              <a:latin typeface="Arial"/>
            </a:endParaRPr>
          </a:p>
          <a:p>
            <a:pPr>
              <a:buNone/>
            </a:pPr>
            <a:r>
              <a:rPr lang="en-US" sz="1500" b="1">
                <a:solidFill>
                  <a:srgbClr val="44546A"/>
                </a:solidFill>
                <a:latin typeface="Arial"/>
              </a:rPr>
              <a:t>13 Tables · 3 Modules</a:t>
            </a:r>
            <a:endParaRPr lang="en-US" sz="1500" b="1">
              <a:solidFill>
                <a:srgbClr val="44546A"/>
              </a:solidFill>
              <a:latin typeface="Arial"/>
              <a:cs typeface="Arial"/>
            </a:endParaRPr>
          </a:p>
          <a:p>
            <a:pPr marL="228600" indent="-228600">
              <a:buChar char="•"/>
            </a:pPr>
            <a:r>
              <a:rPr lang="en-US" sz="1500" b="0">
                <a:solidFill>
                  <a:srgbClr val="404040"/>
                </a:solidFill>
                <a:latin typeface="Arial"/>
              </a:rPr>
              <a:t>User Module: User, Member, Provider</a:t>
            </a:r>
            <a:endParaRPr lang="en-US" sz="1500" b="0">
              <a:solidFill>
                <a:srgbClr val="404040"/>
              </a:solidFill>
              <a:latin typeface="Arial"/>
              <a:cs typeface="Arial"/>
            </a:endParaRPr>
          </a:p>
          <a:p>
            <a:pPr marL="228600" indent="-228600">
              <a:buChar char="•"/>
            </a:pPr>
            <a:r>
              <a:rPr lang="en-US" sz="1500" b="0">
                <a:solidFill>
                  <a:srgbClr val="404040"/>
                </a:solidFill>
                <a:latin typeface="Arial"/>
              </a:rPr>
              <a:t>Room Module: Room, </a:t>
            </a:r>
            <a:r>
              <a:rPr lang="en-US" sz="1500" b="0" err="1">
                <a:solidFill>
                  <a:srgbClr val="404040"/>
                </a:solidFill>
                <a:latin typeface="Arial"/>
              </a:rPr>
              <a:t>RoomProvider</a:t>
            </a:r>
            <a:r>
              <a:rPr lang="en-US" sz="1500" b="0">
                <a:solidFill>
                  <a:srgbClr val="404040"/>
                </a:solidFill>
                <a:latin typeface="Arial"/>
              </a:rPr>
              <a:t>, </a:t>
            </a:r>
            <a:r>
              <a:rPr lang="en-US" sz="1500" b="0" err="1">
                <a:solidFill>
                  <a:srgbClr val="404040"/>
                </a:solidFill>
                <a:latin typeface="Arial"/>
              </a:rPr>
              <a:t>RoomMessage</a:t>
            </a:r>
            <a:r>
              <a:rPr lang="en-US" sz="1500" b="0">
                <a:solidFill>
                  <a:srgbClr val="404040"/>
                </a:solidFill>
                <a:latin typeface="Arial"/>
              </a:rPr>
              <a:t>, Tag tables</a:t>
            </a:r>
            <a:endParaRPr lang="en-US" sz="1500" b="0">
              <a:solidFill>
                <a:srgbClr val="404040"/>
              </a:solidFill>
              <a:latin typeface="Arial"/>
              <a:cs typeface="Arial"/>
            </a:endParaRPr>
          </a:p>
          <a:p>
            <a:pPr marL="228600" indent="-228600">
              <a:buChar char="•"/>
            </a:pPr>
            <a:r>
              <a:rPr lang="en-US" sz="1500" b="0">
                <a:solidFill>
                  <a:srgbClr val="404040"/>
                </a:solidFill>
                <a:latin typeface="Arial"/>
              </a:rPr>
              <a:t>Financial Module: </a:t>
            </a:r>
            <a:r>
              <a:rPr lang="en-US" sz="1500" b="0" err="1">
                <a:solidFill>
                  <a:srgbClr val="404040"/>
                </a:solidFill>
                <a:latin typeface="Arial"/>
              </a:rPr>
              <a:t>AudioCall</a:t>
            </a:r>
            <a:r>
              <a:rPr lang="en-US" sz="1500" b="0">
                <a:solidFill>
                  <a:srgbClr val="404040"/>
                </a:solidFill>
                <a:latin typeface="Arial"/>
              </a:rPr>
              <a:t>, </a:t>
            </a:r>
            <a:r>
              <a:rPr lang="en-US" sz="1500" b="0" err="1">
                <a:solidFill>
                  <a:srgbClr val="404040"/>
                </a:solidFill>
                <a:latin typeface="Arial"/>
              </a:rPr>
              <a:t>AudioCallProvider</a:t>
            </a:r>
            <a:r>
              <a:rPr lang="en-US" sz="1500" b="0">
                <a:solidFill>
                  <a:srgbClr val="404040"/>
                </a:solidFill>
                <a:latin typeface="Arial"/>
              </a:rPr>
              <a:t>, Tip</a:t>
            </a:r>
            <a:endParaRPr lang="en-US" sz="1500" b="0">
              <a:solidFill>
                <a:srgbClr val="404040"/>
              </a:solidFill>
              <a:latin typeface="Arial"/>
              <a:cs typeface="Arial"/>
            </a:endParaRPr>
          </a:p>
          <a:p>
            <a:pPr>
              <a:buNone/>
            </a:pPr>
            <a:endParaRPr lang="en-US" sz="1500" b="0">
              <a:solidFill>
                <a:srgbClr val="404040"/>
              </a:solidFill>
              <a:latin typeface="Arial"/>
              <a:cs typeface="Arial"/>
            </a:endParaRPr>
          </a:p>
          <a:p>
            <a:pPr>
              <a:buNone/>
            </a:pPr>
            <a:r>
              <a:rPr lang="en-US" sz="1500" b="1">
                <a:solidFill>
                  <a:srgbClr val="44546A"/>
                </a:solidFill>
                <a:latin typeface="Arial"/>
              </a:rPr>
              <a:t>Computed Columns (Requirement #1)</a:t>
            </a:r>
            <a:endParaRPr lang="en-US" sz="1500" b="1">
              <a:solidFill>
                <a:srgbClr val="44546A"/>
              </a:solidFill>
              <a:latin typeface="Arial"/>
              <a:cs typeface="Arial"/>
            </a:endParaRPr>
          </a:p>
          <a:p>
            <a:pPr marL="228600" indent="-228600">
              <a:buChar char="•"/>
            </a:pPr>
            <a:r>
              <a:rPr lang="en-US" sz="1500" b="0" err="1">
                <a:solidFill>
                  <a:srgbClr val="404040"/>
                </a:solidFill>
                <a:latin typeface="Arial"/>
              </a:rPr>
              <a:t>duration_seconds</a:t>
            </a:r>
            <a:r>
              <a:rPr lang="en-US" sz="1500" b="0">
                <a:solidFill>
                  <a:srgbClr val="404040"/>
                </a:solidFill>
                <a:latin typeface="Arial"/>
              </a:rPr>
              <a:t> → </a:t>
            </a:r>
            <a:r>
              <a:rPr lang="en-US" sz="1500" b="0" err="1">
                <a:solidFill>
                  <a:srgbClr val="404040"/>
                </a:solidFill>
                <a:latin typeface="Arial"/>
              </a:rPr>
              <a:t>fn_ComputeCallDuration</a:t>
            </a:r>
            <a:r>
              <a:rPr lang="en-US" sz="1500" b="0">
                <a:solidFill>
                  <a:srgbClr val="404040"/>
                </a:solidFill>
                <a:latin typeface="Arial"/>
              </a:rPr>
              <a:t>(start, end)</a:t>
            </a:r>
            <a:endParaRPr lang="en-US" sz="1500" b="0">
              <a:solidFill>
                <a:srgbClr val="404040"/>
              </a:solidFill>
              <a:latin typeface="Arial"/>
              <a:cs typeface="Arial"/>
            </a:endParaRPr>
          </a:p>
          <a:p>
            <a:pPr marL="228600" indent="-228600">
              <a:buChar char="•"/>
            </a:pPr>
            <a:r>
              <a:rPr lang="en-US" sz="1500" b="0" err="1">
                <a:solidFill>
                  <a:srgbClr val="404040"/>
                </a:solidFill>
                <a:latin typeface="Arial"/>
              </a:rPr>
              <a:t>artist_earn</a:t>
            </a:r>
            <a:r>
              <a:rPr lang="en-US" sz="1500" b="0">
                <a:solidFill>
                  <a:srgbClr val="404040"/>
                </a:solidFill>
                <a:latin typeface="Arial"/>
              </a:rPr>
              <a:t> → </a:t>
            </a:r>
            <a:r>
              <a:rPr lang="en-US" sz="1500" b="0" err="1">
                <a:solidFill>
                  <a:srgbClr val="404040"/>
                </a:solidFill>
                <a:latin typeface="Arial"/>
              </a:rPr>
              <a:t>fn_ComputeArtistEarn</a:t>
            </a:r>
            <a:r>
              <a:rPr lang="en-US" sz="1500" b="0">
                <a:solidFill>
                  <a:srgbClr val="404040"/>
                </a:solidFill>
                <a:latin typeface="Arial"/>
              </a:rPr>
              <a:t>(tokens, secs) = 80% share</a:t>
            </a:r>
            <a:endParaRPr lang="en-US" sz="1500" b="0">
              <a:solidFill>
                <a:srgbClr val="404040"/>
              </a:solidFill>
              <a:latin typeface="Arial"/>
              <a:cs typeface="Arial"/>
            </a:endParaRPr>
          </a:p>
          <a:p>
            <a:pPr>
              <a:buNone/>
            </a:pPr>
            <a:endParaRPr lang="en-US" sz="1500" b="0">
              <a:solidFill>
                <a:srgbClr val="404040"/>
              </a:solidFill>
              <a:latin typeface="Arial"/>
              <a:cs typeface="Arial"/>
            </a:endParaRPr>
          </a:p>
          <a:p>
            <a:pPr>
              <a:buNone/>
            </a:pPr>
            <a:r>
              <a:rPr lang="en-US" sz="1500" b="1">
                <a:solidFill>
                  <a:srgbClr val="44546A"/>
                </a:solidFill>
                <a:latin typeface="Arial"/>
              </a:rPr>
              <a:t>CHECK Constraints (Requirement #2)</a:t>
            </a:r>
            <a:endParaRPr lang="en-US" sz="1500" b="1">
              <a:solidFill>
                <a:srgbClr val="44546A"/>
              </a:solidFill>
              <a:latin typeface="Arial"/>
              <a:cs typeface="Arial"/>
            </a:endParaRPr>
          </a:p>
          <a:p>
            <a:pPr marL="228600" indent="-228600">
              <a:buChar char="•"/>
            </a:pPr>
            <a:r>
              <a:rPr lang="en-US" sz="1500" b="0" err="1">
                <a:solidFill>
                  <a:srgbClr val="404040"/>
                </a:solidFill>
                <a:latin typeface="Arial"/>
              </a:rPr>
              <a:t>fn_ValidateTipAmount</a:t>
            </a:r>
            <a:r>
              <a:rPr lang="en-US" sz="1500" b="0">
                <a:solidFill>
                  <a:srgbClr val="404040"/>
                </a:solidFill>
                <a:latin typeface="Arial"/>
              </a:rPr>
              <a:t>: tip must be 1–9999 tokens</a:t>
            </a:r>
            <a:endParaRPr lang="en-US" sz="1500" b="0">
              <a:solidFill>
                <a:srgbClr val="404040"/>
              </a:solidFill>
              <a:latin typeface="Arial"/>
              <a:cs typeface="Arial"/>
            </a:endParaRPr>
          </a:p>
          <a:p>
            <a:pPr marL="228600" indent="-228600">
              <a:buChar char="•"/>
            </a:pPr>
            <a:r>
              <a:rPr lang="en-US" sz="1500" b="0" err="1">
                <a:solidFill>
                  <a:srgbClr val="404040"/>
                </a:solidFill>
                <a:latin typeface="Arial"/>
              </a:rPr>
              <a:t>fn_ValidateCallDuration</a:t>
            </a:r>
            <a:r>
              <a:rPr lang="en-US" sz="1500" b="0">
                <a:solidFill>
                  <a:srgbClr val="404040"/>
                </a:solidFill>
                <a:latin typeface="Arial"/>
              </a:rPr>
              <a:t>: duration must be &gt; 0</a:t>
            </a:r>
            <a:endParaRPr lang="en-US" sz="1500" b="0">
              <a:solidFill>
                <a:srgbClr val="404040"/>
              </a:solidFill>
              <a:latin typeface="Arial"/>
              <a:cs typeface="Arial"/>
            </a:endParaRPr>
          </a:p>
          <a:p>
            <a:pPr>
              <a:buNone/>
            </a:pPr>
            <a:endParaRPr lang="en-US" sz="1500" b="0">
              <a:solidFill>
                <a:srgbClr val="404040"/>
              </a:solidFill>
              <a:latin typeface="Arial"/>
              <a:cs typeface="Arial"/>
            </a:endParaRPr>
          </a:p>
          <a:p>
            <a:pPr>
              <a:buNone/>
            </a:pPr>
            <a:r>
              <a:rPr lang="en-US" sz="1500" b="1" err="1">
                <a:solidFill>
                  <a:srgbClr val="44546A"/>
                </a:solidFill>
                <a:latin typeface="Arial"/>
              </a:rPr>
              <a:t>RoomMessage</a:t>
            </a:r>
            <a:r>
              <a:rPr lang="en-US" sz="1500" b="1">
                <a:solidFill>
                  <a:srgbClr val="44546A"/>
                </a:solidFill>
                <a:latin typeface="Arial"/>
              </a:rPr>
              <a:t> IDENTITY PK</a:t>
            </a:r>
            <a:endParaRPr lang="en-US" sz="1500" b="1">
              <a:solidFill>
                <a:srgbClr val="44546A"/>
              </a:solidFill>
              <a:latin typeface="Arial"/>
              <a:cs typeface="Arial"/>
            </a:endParaRPr>
          </a:p>
          <a:p>
            <a:pPr marL="228600" indent="-228600">
              <a:buChar char="•"/>
            </a:pPr>
            <a:r>
              <a:rPr lang="en-US" sz="1500" b="0">
                <a:solidFill>
                  <a:srgbClr val="404040"/>
                </a:solidFill>
                <a:latin typeface="Arial"/>
              </a:rPr>
              <a:t>Auto-increment defines chronological message order</a:t>
            </a:r>
            <a:endParaRPr lang="en-US" sz="1500" b="0">
              <a:solidFill>
                <a:srgbClr val="404040"/>
              </a:solidFill>
              <a:latin typeface="Arial"/>
              <a:cs typeface="Arial"/>
            </a:endParaRPr>
          </a:p>
          <a:p>
            <a:pPr marL="228600" indent="-228600">
              <a:buChar char="•"/>
            </a:pPr>
            <a:r>
              <a:rPr lang="en-US" sz="1500" b="0">
                <a:solidFill>
                  <a:srgbClr val="404040"/>
                </a:solidFill>
                <a:latin typeface="Arial"/>
              </a:rPr>
              <a:t>Essential for compliance and safety auditing</a:t>
            </a:r>
            <a:endParaRPr lang="en-US" sz="1500" b="0">
              <a:solidFill>
                <a:srgbClr val="404040"/>
              </a:solidFill>
              <a:latin typeface="Arial"/>
              <a:cs typeface="Arial"/>
            </a:endParaRPr>
          </a:p>
        </p:txBody>
      </p:sp>
    </p:spTree>
    <p:extLst>
      <p:ext uri="{BB962C8B-B14F-4D97-AF65-F5344CB8AC3E}">
        <p14:creationId xmlns:p14="http://schemas.microsoft.com/office/powerpoint/2010/main" val="3236654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ar"/>
          <p:cNvSpPr>
            <a:spLocks noGrp="1"/>
          </p:cNvSpPr>
          <p:nvPr/>
        </p:nvSpPr>
        <p:spPr>
          <a:xfrm>
            <a:off x="457200" y="457200"/>
            <a:ext cx="91440" cy="800000"/>
          </a:xfrm>
          <a:prstGeom prst="rect">
            <a:avLst/>
          </a:prstGeom>
          <a:solidFill>
            <a:srgbClr val="EE822F"/>
          </a:solidFill>
          <a:ln>
            <a:noFill/>
          </a:ln>
        </p:spPr>
        <p:txBody>
          <a:bodyPr/>
          <a:lstStyle/>
          <a:p>
            <a:endParaRPr/>
          </a:p>
        </p:txBody>
      </p:sp>
      <p:sp>
        <p:nvSpPr>
          <p:cNvPr id="2" name="Title"/>
          <p:cNvSpPr>
            <a:spLocks noGrp="1"/>
          </p:cNvSpPr>
          <p:nvPr>
            <p:ph type="title"/>
          </p:nvPr>
        </p:nvSpPr>
        <p:spPr>
          <a:xfrm>
            <a:off x="457200" y="457200"/>
            <a:ext cx="11277600" cy="800000"/>
          </a:xfrm>
        </p:spPr>
        <p:txBody>
          <a:bodyPr/>
          <a:lstStyle/>
          <a:p>
            <a:r>
              <a:rPr lang="en-US"/>
              <a:t>Views: Query Results</a:t>
            </a:r>
          </a:p>
        </p:txBody>
      </p:sp>
      <p:pic>
        <p:nvPicPr>
          <p:cNvPr id="3" name="Results"/>
          <p:cNvPicPr>
            <a:picLocks noChangeAspect="1"/>
          </p:cNvPicPr>
          <p:nvPr/>
        </p:nvPicPr>
        <p:blipFill>
          <a:blip r:embed="rId3"/>
          <a:stretch>
            <a:fillRect/>
          </a:stretch>
        </p:blipFill>
        <p:spPr>
          <a:xfrm>
            <a:off x="492328" y="1485800"/>
            <a:ext cx="11107344" cy="4915000"/>
          </a:xfrm>
          <a:prstGeom prst="rect">
            <a:avLst/>
          </a:prstGeom>
        </p:spPr>
      </p:pic>
    </p:spTree>
    <p:extLst>
      <p:ext uri="{BB962C8B-B14F-4D97-AF65-F5344CB8AC3E}">
        <p14:creationId xmlns:p14="http://schemas.microsoft.com/office/powerpoint/2010/main" val="3239878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ar"/>
          <p:cNvSpPr>
            <a:spLocks noGrp="1"/>
          </p:cNvSpPr>
          <p:nvPr/>
        </p:nvSpPr>
        <p:spPr>
          <a:xfrm>
            <a:off x="457200" y="457200"/>
            <a:ext cx="91440" cy="800000"/>
          </a:xfrm>
          <a:prstGeom prst="rect">
            <a:avLst/>
          </a:prstGeom>
          <a:solidFill>
            <a:srgbClr val="EE822F"/>
          </a:solidFill>
          <a:ln>
            <a:noFill/>
          </a:ln>
        </p:spPr>
        <p:txBody>
          <a:bodyPr/>
          <a:lstStyle/>
          <a:p>
            <a:endParaRPr/>
          </a:p>
        </p:txBody>
      </p:sp>
      <p:sp>
        <p:nvSpPr>
          <p:cNvPr id="2" name="Title"/>
          <p:cNvSpPr>
            <a:spLocks noGrp="1"/>
          </p:cNvSpPr>
          <p:nvPr>
            <p:ph type="title"/>
          </p:nvPr>
        </p:nvSpPr>
        <p:spPr>
          <a:xfrm>
            <a:off x="457200" y="457200"/>
            <a:ext cx="11277600" cy="800000"/>
          </a:xfrm>
        </p:spPr>
        <p:txBody>
          <a:bodyPr/>
          <a:lstStyle/>
          <a:p>
            <a:r>
              <a:rPr lang="en-US"/>
              <a:t>View 3: Member Room Activity Summary</a:t>
            </a:r>
          </a:p>
        </p:txBody>
      </p:sp>
      <p:sp>
        <p:nvSpPr>
          <p:cNvPr id="3" name="Code"/>
          <p:cNvSpPr txBox="1"/>
          <p:nvPr/>
        </p:nvSpPr>
        <p:spPr>
          <a:xfrm>
            <a:off x="557200" y="1485800"/>
            <a:ext cx="5424500" cy="4915000"/>
          </a:xfrm>
          <a:prstGeom prst="rect">
            <a:avLst/>
          </a:prstGeom>
          <a:solidFill>
            <a:srgbClr val="1E1E1E"/>
          </a:solidFill>
        </p:spPr>
        <p:txBody>
          <a:bodyPr wrap="square" lIns="91440" tIns="91440" rIns="91440" bIns="91440"/>
          <a:lstStyle/>
          <a:p>
            <a:pPr marL="91440">
              <a:buNone/>
            </a:pPr>
            <a:r>
              <a:rPr lang="en-US" sz="1000" b="0">
                <a:solidFill>
                  <a:srgbClr val="6A9955"/>
                </a:solidFill>
                <a:latin typeface="Consolas"/>
              </a:rPr>
              <a:t>-- View 3: Member Room Activity Summary</a:t>
            </a:r>
          </a:p>
          <a:p>
            <a:pPr marL="91440">
              <a:buNone/>
            </a:pPr>
            <a:r>
              <a:rPr lang="en-US" sz="1000" b="0">
                <a:solidFill>
                  <a:srgbClr val="DCDCAA"/>
                </a:solidFill>
                <a:latin typeface="Consolas"/>
              </a:rPr>
              <a:t>CREATE VIEW dbo.vw_MemberRoomActivitySummary AS</a:t>
            </a:r>
          </a:p>
          <a:p>
            <a:pPr marL="91440">
              <a:buNone/>
            </a:pPr>
            <a:r>
              <a:rPr lang="en-US" sz="1000" b="0">
                <a:solidFill>
                  <a:srgbClr val="6A9955"/>
                </a:solidFill>
                <a:latin typeface="Consolas"/>
              </a:rPr>
              <a:t>-- CTE 1: Member token spending</a:t>
            </a:r>
          </a:p>
          <a:p>
            <a:pPr marL="91440">
              <a:buNone/>
            </a:pPr>
            <a:r>
              <a:rPr lang="en-US" sz="1000" b="0">
                <a:solidFill>
                  <a:srgbClr val="569CD6"/>
                </a:solidFill>
                <a:latin typeface="Consolas"/>
              </a:rPr>
              <a:t>WITH MemberSpend AS (</a:t>
            </a:r>
          </a:p>
          <a:p>
            <a:pPr marL="91440">
              <a:buNone/>
            </a:pPr>
            <a:r>
              <a:rPr lang="en-US" sz="1000" b="0">
                <a:solidFill>
                  <a:srgbClr val="FFFFFF"/>
                </a:solidFill>
                <a:latin typeface="Consolas"/>
              </a:rPr>
              <a:t>  SELECT u.id, u.name, m.vip_level, m.token_balance,</a:t>
            </a:r>
          </a:p>
          <a:p>
            <a:pPr marL="91440">
              <a:buNone/>
            </a:pPr>
            <a:r>
              <a:rPr lang="en-US" sz="1000" b="0">
                <a:solidFill>
                  <a:srgbClr val="9CDCFE"/>
                </a:solidFill>
                <a:latin typeface="Consolas"/>
              </a:rPr>
              <a:t>    COUNT(DISTINCT ac.id) AS total_calls_made,</a:t>
            </a:r>
          </a:p>
          <a:p>
            <a:pPr marL="91440">
              <a:buNone/>
            </a:pPr>
            <a:r>
              <a:rPr lang="en-US" sz="1000" b="0">
                <a:solidFill>
                  <a:srgbClr val="FFFFFF"/>
                </a:solidFill>
                <a:latin typeface="Consolas"/>
              </a:rPr>
              <a:t>    COALESCE(SUM(ac.total_cost_tokens),0)</a:t>
            </a:r>
          </a:p>
          <a:p>
            <a:pPr marL="91440">
              <a:buNone/>
            </a:pPr>
            <a:r>
              <a:rPr lang="en-US" sz="1000" b="0">
                <a:solidFill>
                  <a:srgbClr val="9CDCFE"/>
                </a:solidFill>
                <a:latin typeface="Consolas"/>
              </a:rPr>
              <a:t>      AS total_tokens_spent_on_calls,</a:t>
            </a:r>
          </a:p>
          <a:p>
            <a:pPr marL="91440">
              <a:buNone/>
            </a:pPr>
            <a:r>
              <a:rPr lang="en-US" sz="1000" b="0">
                <a:solidFill>
                  <a:srgbClr val="FFFFFF"/>
                </a:solidFill>
                <a:latin typeface="Consolas"/>
              </a:rPr>
              <a:t>    COALESCE(SUM(t.tip_amount_tokens),0)</a:t>
            </a:r>
          </a:p>
          <a:p>
            <a:pPr marL="91440">
              <a:buNone/>
            </a:pPr>
            <a:r>
              <a:rPr lang="en-US" sz="1000" b="0">
                <a:solidFill>
                  <a:srgbClr val="9CDCFE"/>
                </a:solidFill>
                <a:latin typeface="Consolas"/>
              </a:rPr>
              <a:t>      AS total_tokens_spent_on_tips</a:t>
            </a:r>
          </a:p>
          <a:p>
            <a:pPr marL="91440">
              <a:buNone/>
            </a:pPr>
            <a:r>
              <a:rPr lang="en-US" sz="1000" b="0">
                <a:solidFill>
                  <a:srgbClr val="FFFFFF"/>
                </a:solidFill>
                <a:latin typeface="Consolas"/>
              </a:rPr>
              <a:t>  FROM dbo.Member m JOIN dbo.[User] u ON m.user_id=u.id</a:t>
            </a:r>
          </a:p>
          <a:p>
            <a:pPr marL="91440">
              <a:buNone/>
            </a:pPr>
            <a:r>
              <a:rPr lang="en-US" sz="1000" b="0">
                <a:solidFill>
                  <a:srgbClr val="FFFFFF"/>
                </a:solidFill>
                <a:latin typeface="Consolas"/>
              </a:rPr>
              <a:t>  LEFT JOIN dbo.AudioCall ac ON u.id=ac.owner_user_id</a:t>
            </a:r>
          </a:p>
          <a:p>
            <a:pPr marL="91440">
              <a:buNone/>
            </a:pPr>
            <a:r>
              <a:rPr lang="en-US" sz="1000" b="0">
                <a:solidFill>
                  <a:srgbClr val="FFFFFF"/>
                </a:solidFill>
                <a:latin typeface="Consolas"/>
              </a:rPr>
              <a:t>  LEFT JOIN dbo.Tip t ON u.id=t.sender_user_id</a:t>
            </a:r>
          </a:p>
          <a:p>
            <a:pPr marL="91440">
              <a:buNone/>
            </a:pPr>
            <a:r>
              <a:rPr lang="en-US" sz="1000" b="0">
                <a:solidFill>
                  <a:srgbClr val="FFFFFF"/>
                </a:solidFill>
                <a:latin typeface="Consolas"/>
              </a:rPr>
              <a:t>  GROUP BY u.id, u.name, m.vip_level, m.token_balance</a:t>
            </a:r>
          </a:p>
          <a:p>
            <a:pPr marL="91440">
              <a:buNone/>
            </a:pPr>
            <a:r>
              <a:rPr lang="en-US" sz="1000" b="0">
                <a:solidFill>
                  <a:srgbClr val="569CD6"/>
                </a:solidFill>
                <a:latin typeface="Consolas"/>
              </a:rPr>
              <a:t>),</a:t>
            </a:r>
          </a:p>
          <a:p>
            <a:pPr marL="91440">
              <a:buNone/>
            </a:pPr>
            <a:r>
              <a:rPr lang="en-US" sz="1000" b="0">
                <a:solidFill>
                  <a:srgbClr val="6A9955"/>
                </a:solidFill>
                <a:latin typeface="Consolas"/>
              </a:rPr>
              <a:t>-- CTE 2: Room ownership stats</a:t>
            </a:r>
          </a:p>
          <a:p>
            <a:pPr marL="91440">
              <a:buNone/>
            </a:pPr>
            <a:r>
              <a:rPr lang="en-US" sz="1000" b="0">
                <a:solidFill>
                  <a:srgbClr val="569CD6"/>
                </a:solidFill>
                <a:latin typeface="Consolas"/>
              </a:rPr>
              <a:t>RoomStats AS (</a:t>
            </a:r>
          </a:p>
          <a:p>
            <a:pPr marL="91440">
              <a:buNone/>
            </a:pPr>
            <a:r>
              <a:rPr lang="en-US" sz="1000" b="0">
                <a:solidFill>
                  <a:srgbClr val="FFFFFF"/>
                </a:solidFill>
                <a:latin typeface="Consolas"/>
              </a:rPr>
              <a:t>  SELECT r.owner_user_id,</a:t>
            </a:r>
          </a:p>
          <a:p>
            <a:pPr marL="91440">
              <a:buNone/>
            </a:pPr>
            <a:r>
              <a:rPr lang="en-US" sz="1000" b="0">
                <a:solidFill>
                  <a:srgbClr val="9CDCFE"/>
                </a:solidFill>
                <a:latin typeface="Consolas"/>
              </a:rPr>
              <a:t>    COUNT(DISTINCT r.id) AS total_rooms_owned,</a:t>
            </a:r>
          </a:p>
          <a:p>
            <a:pPr marL="91440">
              <a:buNone/>
            </a:pPr>
            <a:r>
              <a:rPr lang="en-US" sz="1000" b="0">
                <a:solidFill>
                  <a:srgbClr val="FFFFFF"/>
                </a:solidFill>
                <a:latin typeface="Consolas"/>
              </a:rPr>
              <a:t>    COUNT(DISTINCT CASE WHEN r.status='active'</a:t>
            </a:r>
          </a:p>
          <a:p>
            <a:pPr marL="91440">
              <a:buNone/>
            </a:pPr>
            <a:r>
              <a:rPr lang="en-US" sz="1000" b="0">
                <a:solidFill>
                  <a:srgbClr val="9CDCFE"/>
                </a:solidFill>
                <a:latin typeface="Consolas"/>
              </a:rPr>
              <a:t>      THEN r.id END) AS active_rooms_owned,</a:t>
            </a:r>
          </a:p>
          <a:p>
            <a:pPr marL="91440">
              <a:buNone/>
            </a:pPr>
            <a:r>
              <a:rPr lang="en-US" sz="1000" b="0">
                <a:solidFill>
                  <a:srgbClr val="FFFFFF"/>
                </a:solidFill>
                <a:latin typeface="Consolas"/>
              </a:rPr>
              <a:t>    COUNT(DISTINCT rp.provider_id)</a:t>
            </a:r>
          </a:p>
          <a:p>
            <a:pPr marL="91440">
              <a:buNone/>
            </a:pPr>
            <a:r>
              <a:rPr lang="en-US" sz="1000" b="0">
                <a:solidFill>
                  <a:srgbClr val="9CDCFE"/>
                </a:solidFill>
                <a:latin typeface="Consolas"/>
              </a:rPr>
              <a:t>      AS total_active_providers_in_rooms</a:t>
            </a:r>
          </a:p>
          <a:p>
            <a:pPr marL="91440">
              <a:buNone/>
            </a:pPr>
            <a:r>
              <a:rPr lang="en-US" sz="1000" b="0">
                <a:solidFill>
                  <a:srgbClr val="FFFFFF"/>
                </a:solidFill>
                <a:latin typeface="Consolas"/>
              </a:rPr>
              <a:t>  FROM dbo.Room r</a:t>
            </a:r>
          </a:p>
          <a:p>
            <a:pPr marL="91440">
              <a:buNone/>
            </a:pPr>
            <a:r>
              <a:rPr lang="en-US" sz="1000" b="0">
                <a:solidFill>
                  <a:srgbClr val="FFFFFF"/>
                </a:solidFill>
                <a:latin typeface="Consolas"/>
              </a:rPr>
              <a:t>  LEFT JOIN dbo.RoomProvider rp ON r.id=rp.room_id</a:t>
            </a:r>
          </a:p>
          <a:p>
            <a:pPr marL="91440">
              <a:buNone/>
            </a:pPr>
            <a:r>
              <a:rPr lang="en-US" sz="1000" b="0">
                <a:solidFill>
                  <a:srgbClr val="FFFFFF"/>
                </a:solidFill>
                <a:latin typeface="Consolas"/>
              </a:rPr>
              <a:t>  GROUP BY r.owner_user_id</a:t>
            </a:r>
          </a:p>
          <a:p>
            <a:pPr marL="91440">
              <a:buNone/>
            </a:pPr>
            <a:r>
              <a:rPr lang="en-US" sz="1000" b="0">
                <a:solidFill>
                  <a:srgbClr val="569CD6"/>
                </a:solidFill>
                <a:latin typeface="Consolas"/>
              </a:rPr>
              <a:t>)</a:t>
            </a:r>
          </a:p>
          <a:p>
            <a:pPr marL="91440">
              <a:buNone/>
            </a:pPr>
            <a:r>
              <a:rPr lang="en-US" sz="1000" b="0">
                <a:solidFill>
                  <a:srgbClr val="FFFFFF"/>
                </a:solidFill>
                <a:latin typeface="Consolas"/>
              </a:rPr>
              <a:t>SELECT ms.*, COALESCE(rs.total_rooms_owned,0),</a:t>
            </a:r>
          </a:p>
          <a:p>
            <a:pPr marL="91440">
              <a:buNone/>
            </a:pPr>
            <a:r>
              <a:rPr lang="en-US" sz="1000" b="0">
                <a:solidFill>
                  <a:srgbClr val="FFFFFF"/>
                </a:solidFill>
                <a:latin typeface="Consolas"/>
              </a:rPr>
              <a:t>  COALESCE(rs.active_rooms_owned,0), ...</a:t>
            </a:r>
          </a:p>
          <a:p>
            <a:pPr marL="91440">
              <a:buNone/>
            </a:pPr>
            <a:r>
              <a:rPr lang="en-US" sz="1000" b="0">
                <a:solidFill>
                  <a:srgbClr val="FFFFFF"/>
                </a:solidFill>
                <a:latin typeface="Consolas"/>
              </a:rPr>
              <a:t>FROM MemberSpend ms LEFT JOIN RoomStats rs</a:t>
            </a:r>
          </a:p>
          <a:p>
            <a:pPr marL="91440">
              <a:buNone/>
            </a:pPr>
            <a:r>
              <a:rPr lang="en-US" sz="1000" b="0">
                <a:solidFill>
                  <a:srgbClr val="FFFFFF"/>
                </a:solidFill>
                <a:latin typeface="Consolas"/>
              </a:rPr>
              <a:t>  ON ms.user_id = rs.user_id;</a:t>
            </a:r>
          </a:p>
        </p:txBody>
      </p:sp>
      <p:sp>
        <p:nvSpPr>
          <p:cNvPr id="4" name="Notes"/>
          <p:cNvSpPr txBox="1"/>
          <p:nvPr/>
        </p:nvSpPr>
        <p:spPr>
          <a:xfrm>
            <a:off x="6210300" y="1485800"/>
            <a:ext cx="5524500" cy="4915000"/>
          </a:xfrm>
          <a:prstGeom prst="rect">
            <a:avLst/>
          </a:prstGeom>
          <a:noFill/>
        </p:spPr>
        <p:txBody>
          <a:bodyPr wrap="square" lIns="91440" tIns="91440" rIns="91440" bIns="91440" anchor="t"/>
          <a:lstStyle/>
          <a:p>
            <a:pPr>
              <a:buNone/>
            </a:pPr>
            <a:r>
              <a:rPr lang="en-US" sz="1500" b="1" err="1">
                <a:solidFill>
                  <a:srgbClr val="EE822F"/>
                </a:solidFill>
                <a:latin typeface="Arial"/>
              </a:rPr>
              <a:t>vw_MemberRoomActivitySummary</a:t>
            </a:r>
            <a:endParaRPr lang="en-US" sz="1500" b="1" err="1">
              <a:solidFill>
                <a:srgbClr val="EE822F"/>
              </a:solidFill>
              <a:latin typeface="Arial"/>
              <a:cs typeface="Arial"/>
            </a:endParaRPr>
          </a:p>
          <a:p>
            <a:pPr>
              <a:buNone/>
            </a:pPr>
            <a:endParaRPr lang="en-US" sz="1500" b="1">
              <a:solidFill>
                <a:srgbClr val="EE822F"/>
              </a:solidFill>
              <a:latin typeface="Arial"/>
            </a:endParaRPr>
          </a:p>
          <a:p>
            <a:pPr>
              <a:buNone/>
            </a:pPr>
            <a:r>
              <a:rPr lang="en-US" sz="1500" b="1">
                <a:solidFill>
                  <a:srgbClr val="44546A"/>
                </a:solidFill>
                <a:latin typeface="Arial"/>
              </a:rPr>
              <a:t>Design: 2 CTEs</a:t>
            </a:r>
            <a:endParaRPr lang="en-US" sz="1500" b="1">
              <a:solidFill>
                <a:srgbClr val="44546A"/>
              </a:solidFill>
              <a:latin typeface="Arial"/>
              <a:cs typeface="Arial"/>
            </a:endParaRPr>
          </a:p>
          <a:p>
            <a:pPr marL="228600" indent="-228600">
              <a:buChar char="•"/>
            </a:pPr>
            <a:r>
              <a:rPr lang="en-US" sz="1500" b="0" err="1">
                <a:solidFill>
                  <a:srgbClr val="404040"/>
                </a:solidFill>
                <a:latin typeface="Arial"/>
              </a:rPr>
              <a:t>MemberSpend</a:t>
            </a:r>
            <a:r>
              <a:rPr lang="en-US" sz="1500" b="0">
                <a:solidFill>
                  <a:srgbClr val="404040"/>
                </a:solidFill>
                <a:latin typeface="Arial"/>
              </a:rPr>
              <a:t>: token spending on calls + tips</a:t>
            </a:r>
            <a:endParaRPr lang="en-US" sz="1500" b="0">
              <a:solidFill>
                <a:srgbClr val="404040"/>
              </a:solidFill>
              <a:latin typeface="Arial"/>
              <a:cs typeface="Arial"/>
            </a:endParaRPr>
          </a:p>
          <a:p>
            <a:pPr marL="228600" indent="-228600">
              <a:buChar char="•"/>
            </a:pPr>
            <a:r>
              <a:rPr lang="en-US" sz="1500" b="0" err="1">
                <a:solidFill>
                  <a:srgbClr val="404040"/>
                </a:solidFill>
                <a:latin typeface="Arial"/>
              </a:rPr>
              <a:t>RoomStats</a:t>
            </a:r>
            <a:r>
              <a:rPr lang="en-US" sz="1500" b="0">
                <a:solidFill>
                  <a:srgbClr val="404040"/>
                </a:solidFill>
                <a:latin typeface="Arial"/>
              </a:rPr>
              <a:t>: rooms owned, messages, active providers</a:t>
            </a:r>
            <a:endParaRPr lang="en-US" sz="1500" b="0">
              <a:solidFill>
                <a:srgbClr val="404040"/>
              </a:solidFill>
              <a:latin typeface="Arial"/>
              <a:cs typeface="Arial"/>
            </a:endParaRPr>
          </a:p>
          <a:p>
            <a:pPr>
              <a:buNone/>
            </a:pPr>
            <a:endParaRPr lang="en-US" sz="1500" b="0">
              <a:solidFill>
                <a:srgbClr val="404040"/>
              </a:solidFill>
              <a:latin typeface="Arial"/>
              <a:cs typeface="Arial"/>
            </a:endParaRPr>
          </a:p>
          <a:p>
            <a:pPr>
              <a:buNone/>
            </a:pPr>
            <a:r>
              <a:rPr lang="en-US" sz="1500" b="1">
                <a:solidFill>
                  <a:srgbClr val="44546A"/>
                </a:solidFill>
                <a:latin typeface="Arial"/>
              </a:rPr>
              <a:t>Tables Joined (7 total)</a:t>
            </a:r>
            <a:endParaRPr lang="en-US" sz="1500" b="1">
              <a:solidFill>
                <a:srgbClr val="44546A"/>
              </a:solidFill>
              <a:latin typeface="Arial"/>
              <a:cs typeface="Arial"/>
            </a:endParaRPr>
          </a:p>
          <a:p>
            <a:pPr marL="228600" indent="-228600">
              <a:buChar char="•"/>
            </a:pPr>
            <a:r>
              <a:rPr lang="en-US" sz="1500" b="0">
                <a:solidFill>
                  <a:srgbClr val="404040"/>
                </a:solidFill>
                <a:latin typeface="Arial"/>
              </a:rPr>
              <a:t>Member, User, </a:t>
            </a:r>
            <a:r>
              <a:rPr lang="en-US" sz="1500" b="0" err="1">
                <a:solidFill>
                  <a:srgbClr val="404040"/>
                </a:solidFill>
                <a:latin typeface="Arial"/>
              </a:rPr>
              <a:t>AudioCall</a:t>
            </a:r>
            <a:r>
              <a:rPr lang="en-US" sz="1500" b="0">
                <a:solidFill>
                  <a:srgbClr val="404040"/>
                </a:solidFill>
                <a:latin typeface="Arial"/>
              </a:rPr>
              <a:t>, Tip</a:t>
            </a:r>
            <a:endParaRPr lang="en-US" sz="1500" b="0">
              <a:solidFill>
                <a:srgbClr val="404040"/>
              </a:solidFill>
              <a:latin typeface="Arial"/>
              <a:cs typeface="Arial"/>
            </a:endParaRPr>
          </a:p>
          <a:p>
            <a:pPr marL="228600" indent="-228600">
              <a:buChar char="•"/>
            </a:pPr>
            <a:r>
              <a:rPr lang="en-US" sz="1500" b="0">
                <a:solidFill>
                  <a:srgbClr val="404040"/>
                </a:solidFill>
                <a:latin typeface="Arial"/>
              </a:rPr>
              <a:t>Room, </a:t>
            </a:r>
            <a:r>
              <a:rPr lang="en-US" sz="1500" b="0" err="1">
                <a:solidFill>
                  <a:srgbClr val="404040"/>
                </a:solidFill>
                <a:latin typeface="Arial"/>
              </a:rPr>
              <a:t>RoomMessage</a:t>
            </a:r>
            <a:r>
              <a:rPr lang="en-US" sz="1500" b="0">
                <a:solidFill>
                  <a:srgbClr val="404040"/>
                </a:solidFill>
                <a:latin typeface="Arial"/>
              </a:rPr>
              <a:t>, </a:t>
            </a:r>
            <a:r>
              <a:rPr lang="en-US" sz="1500" b="0" err="1">
                <a:solidFill>
                  <a:srgbClr val="404040"/>
                </a:solidFill>
                <a:latin typeface="Arial"/>
              </a:rPr>
              <a:t>RoomProvider</a:t>
            </a:r>
            <a:endParaRPr lang="en-US" sz="1500" b="0" err="1">
              <a:solidFill>
                <a:srgbClr val="404040"/>
              </a:solidFill>
              <a:latin typeface="Arial"/>
              <a:cs typeface="Arial"/>
            </a:endParaRPr>
          </a:p>
          <a:p>
            <a:pPr>
              <a:buNone/>
            </a:pPr>
            <a:endParaRPr lang="en-US" sz="1500" b="0">
              <a:solidFill>
                <a:srgbClr val="404040"/>
              </a:solidFill>
              <a:latin typeface="Arial"/>
              <a:cs typeface="Arial"/>
            </a:endParaRPr>
          </a:p>
          <a:p>
            <a:pPr>
              <a:buNone/>
            </a:pPr>
            <a:r>
              <a:rPr lang="en-US" sz="1500" b="1">
                <a:solidFill>
                  <a:srgbClr val="44546A"/>
                </a:solidFill>
                <a:latin typeface="Arial"/>
              </a:rPr>
              <a:t>Business Use Cases</a:t>
            </a:r>
            <a:endParaRPr lang="en-US" sz="1500" b="1">
              <a:solidFill>
                <a:srgbClr val="44546A"/>
              </a:solidFill>
              <a:latin typeface="Arial"/>
              <a:cs typeface="Arial"/>
            </a:endParaRPr>
          </a:p>
          <a:p>
            <a:pPr marL="228600" indent="-228600">
              <a:buChar char="•"/>
            </a:pPr>
            <a:r>
              <a:rPr lang="en-US" sz="1500" b="0">
                <a:solidFill>
                  <a:srgbClr val="404040"/>
                </a:solidFill>
                <a:latin typeface="Arial"/>
              </a:rPr>
              <a:t>VIP segmentation: identify high-spending members</a:t>
            </a:r>
            <a:endParaRPr lang="en-US" sz="1500" b="0">
              <a:solidFill>
                <a:srgbClr val="404040"/>
              </a:solidFill>
              <a:latin typeface="Arial"/>
              <a:cs typeface="Arial"/>
            </a:endParaRPr>
          </a:p>
          <a:p>
            <a:pPr marL="228600" indent="-228600">
              <a:buChar char="•"/>
            </a:pPr>
            <a:r>
              <a:rPr lang="en-US" sz="1500" b="0">
                <a:solidFill>
                  <a:srgbClr val="404040"/>
                </a:solidFill>
                <a:latin typeface="Arial"/>
              </a:rPr>
              <a:t>Spending vs. room activity correlation</a:t>
            </a:r>
            <a:endParaRPr lang="en-US" sz="1500" b="0">
              <a:solidFill>
                <a:srgbClr val="404040"/>
              </a:solidFill>
              <a:latin typeface="Arial"/>
              <a:cs typeface="Arial"/>
            </a:endParaRPr>
          </a:p>
          <a:p>
            <a:pPr marL="228600" indent="-228600">
              <a:buChar char="•"/>
            </a:pPr>
            <a:r>
              <a:rPr lang="en-US" sz="1500" b="0">
                <a:solidFill>
                  <a:srgbClr val="404040"/>
                </a:solidFill>
                <a:latin typeface="Arial"/>
              </a:rPr>
              <a:t>Platform engagement analytics</a:t>
            </a:r>
            <a:endParaRPr lang="en-US" sz="1500" b="0">
              <a:solidFill>
                <a:srgbClr val="404040"/>
              </a:solidFill>
              <a:latin typeface="Arial"/>
              <a:cs typeface="Arial"/>
            </a:endParaRPr>
          </a:p>
          <a:p>
            <a:pPr>
              <a:buNone/>
            </a:pPr>
            <a:endParaRPr lang="en-US" sz="1500" b="0">
              <a:solidFill>
                <a:srgbClr val="404040"/>
              </a:solidFill>
              <a:latin typeface="Arial"/>
              <a:cs typeface="Arial"/>
            </a:endParaRPr>
          </a:p>
          <a:p>
            <a:pPr>
              <a:buNone/>
            </a:pPr>
            <a:r>
              <a:rPr lang="en-US" sz="1500" b="1">
                <a:solidFill>
                  <a:srgbClr val="44546A"/>
                </a:solidFill>
                <a:latin typeface="Arial"/>
              </a:rPr>
              <a:t>Supersedes </a:t>
            </a:r>
            <a:r>
              <a:rPr lang="en-US" sz="1500" b="1" err="1">
                <a:solidFill>
                  <a:srgbClr val="44546A"/>
                </a:solidFill>
                <a:latin typeface="Arial"/>
              </a:rPr>
              <a:t>vw_MemberSpendingSummary</a:t>
            </a:r>
            <a:endParaRPr lang="en-US" sz="1500" b="1" err="1">
              <a:solidFill>
                <a:srgbClr val="44546A"/>
              </a:solidFill>
              <a:latin typeface="Arial"/>
              <a:cs typeface="Arial"/>
            </a:endParaRPr>
          </a:p>
          <a:p>
            <a:pPr marL="228600" indent="-228600">
              <a:buChar char="•"/>
            </a:pPr>
            <a:r>
              <a:rPr lang="en-US" sz="1500" b="0">
                <a:solidFill>
                  <a:srgbClr val="404040"/>
                </a:solidFill>
                <a:latin typeface="Arial"/>
              </a:rPr>
              <a:t>Contains all previous fields + room ownership stats</a:t>
            </a:r>
            <a:endParaRPr lang="en-US" sz="1500" b="0">
              <a:solidFill>
                <a:srgbClr val="404040"/>
              </a:solidFill>
              <a:latin typeface="Arial"/>
              <a:cs typeface="Arial"/>
            </a:endParaRPr>
          </a:p>
        </p:txBody>
      </p:sp>
    </p:spTree>
    <p:extLst>
      <p:ext uri="{BB962C8B-B14F-4D97-AF65-F5344CB8AC3E}">
        <p14:creationId xmlns:p14="http://schemas.microsoft.com/office/powerpoint/2010/main" val="2693683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4"/>
          <a:srcRect b="3426"/>
          <a:stretch>
            <a:fillRect/>
          </a:stretch>
        </p:blipFill>
        <p:spPr>
          <a:xfrm>
            <a:off x="804545" y="117475"/>
            <a:ext cx="10658475" cy="6623050"/>
          </a:xfrm>
          <a:prstGeom prst="rect">
            <a:avLst/>
          </a:prstGeom>
        </p:spPr>
      </p:pic>
      <p:sp>
        <p:nvSpPr>
          <p:cNvPr id="5" name="文本框 4"/>
          <p:cNvSpPr txBox="1"/>
          <p:nvPr/>
        </p:nvSpPr>
        <p:spPr>
          <a:xfrm>
            <a:off x="0" y="323215"/>
            <a:ext cx="2306320" cy="368300"/>
          </a:xfrm>
          <a:prstGeom prst="rect">
            <a:avLst/>
          </a:prstGeom>
          <a:noFill/>
        </p:spPr>
        <p:txBody>
          <a:bodyPr wrap="square" rtlCol="0">
            <a:spAutoFit/>
          </a:bodyPr>
          <a:lstStyle/>
          <a:p>
            <a:r>
              <a:rPr lang="en-US" altLang="zh-CN" dirty="0"/>
              <a:t>Report 1</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a:stretch>
            <a:fillRect/>
          </a:stretch>
        </p:blipFill>
        <p:spPr>
          <a:xfrm>
            <a:off x="992505" y="176530"/>
            <a:ext cx="10006965" cy="6681470"/>
          </a:xfrm>
          <a:prstGeom prst="rect">
            <a:avLst/>
          </a:prstGeom>
        </p:spPr>
      </p:pic>
      <p:sp>
        <p:nvSpPr>
          <p:cNvPr id="5" name="文本框 4"/>
          <p:cNvSpPr txBox="1"/>
          <p:nvPr/>
        </p:nvSpPr>
        <p:spPr>
          <a:xfrm>
            <a:off x="0" y="323215"/>
            <a:ext cx="2306320" cy="368300"/>
          </a:xfrm>
          <a:prstGeom prst="rect">
            <a:avLst/>
          </a:prstGeom>
          <a:noFill/>
        </p:spPr>
        <p:txBody>
          <a:bodyPr wrap="square" rtlCol="0">
            <a:spAutoFit/>
          </a:bodyPr>
          <a:lstStyle/>
          <a:p>
            <a:r>
              <a:rPr lang="en-US" altLang="zh-CN"/>
              <a:t>Report 2</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ar"/>
          <p:cNvSpPr>
            <a:spLocks noGrp="1"/>
          </p:cNvSpPr>
          <p:nvPr/>
        </p:nvSpPr>
        <p:spPr>
          <a:xfrm>
            <a:off x="457200" y="457200"/>
            <a:ext cx="91440" cy="800000"/>
          </a:xfrm>
          <a:prstGeom prst="rect">
            <a:avLst/>
          </a:prstGeom>
          <a:solidFill>
            <a:srgbClr val="EE822F"/>
          </a:solidFill>
          <a:ln>
            <a:noFill/>
          </a:ln>
        </p:spPr>
        <p:txBody>
          <a:bodyPr/>
          <a:lstStyle/>
          <a:p>
            <a:endParaRPr/>
          </a:p>
        </p:txBody>
      </p:sp>
      <p:sp>
        <p:nvSpPr>
          <p:cNvPr id="2" name="Title"/>
          <p:cNvSpPr>
            <a:spLocks noGrp="1"/>
          </p:cNvSpPr>
          <p:nvPr>
            <p:ph type="title"/>
          </p:nvPr>
        </p:nvSpPr>
        <p:spPr>
          <a:xfrm>
            <a:off x="457200" y="457200"/>
            <a:ext cx="11277600" cy="800000"/>
          </a:xfrm>
        </p:spPr>
        <p:txBody>
          <a:bodyPr>
            <a:normAutofit fontScale="90000"/>
          </a:bodyPr>
          <a:lstStyle/>
          <a:p>
            <a:r>
              <a:rPr lang="en-US" dirty="0"/>
              <a:t>Further Improvements</a:t>
            </a:r>
          </a:p>
        </p:txBody>
      </p:sp>
      <p:sp>
        <p:nvSpPr>
          <p:cNvPr id="3" name="Box_3"/>
          <p:cNvSpPr txBox="1"/>
          <p:nvPr/>
        </p:nvSpPr>
        <p:spPr>
          <a:xfrm>
            <a:off x="457200" y="1485800"/>
            <a:ext cx="3625866" cy="2357500"/>
          </a:xfrm>
          <a:prstGeom prst="rect">
            <a:avLst/>
          </a:prstGeom>
          <a:solidFill>
            <a:srgbClr val="4472C4">
              <a:alpha val="12000"/>
            </a:srgbClr>
          </a:solidFill>
          <a:ln w="18000">
            <a:solidFill>
              <a:srgbClr val="4472C4"/>
            </a:solidFill>
          </a:ln>
        </p:spPr>
        <p:txBody>
          <a:bodyPr wrap="square" lIns="152400" tIns="152400" rIns="152400" bIns="91440"/>
          <a:lstStyle/>
          <a:p>
            <a:pPr>
              <a:buNone/>
            </a:pPr>
            <a:r>
              <a:rPr lang="en-US" sz="1500" b="1" dirty="0">
                <a:solidFill>
                  <a:srgbClr val="4472C4"/>
                </a:solidFill>
                <a:latin typeface="Arial"/>
              </a:rPr>
              <a:t>Add Data Encryption</a:t>
            </a:r>
          </a:p>
          <a:p>
            <a:pPr>
              <a:buNone/>
            </a:pPr>
            <a:r>
              <a:rPr lang="en-US" sz="1500" b="0" dirty="0">
                <a:solidFill>
                  <a:srgbClr val="333333"/>
                </a:solidFill>
                <a:latin typeface="Arial"/>
              </a:rPr>
              <a:t>Column-level encryption for
password and email fields
to meet GDPR requirements</a:t>
            </a:r>
          </a:p>
        </p:txBody>
      </p:sp>
      <p:sp>
        <p:nvSpPr>
          <p:cNvPr id="4" name="Box_4"/>
          <p:cNvSpPr txBox="1"/>
          <p:nvPr/>
        </p:nvSpPr>
        <p:spPr>
          <a:xfrm>
            <a:off x="4283066" y="1485800"/>
            <a:ext cx="3625866" cy="2357500"/>
          </a:xfrm>
          <a:prstGeom prst="rect">
            <a:avLst/>
          </a:prstGeom>
          <a:solidFill>
            <a:srgbClr val="EE822F">
              <a:alpha val="12000"/>
            </a:srgbClr>
          </a:solidFill>
          <a:ln w="18000">
            <a:solidFill>
              <a:srgbClr val="EE822F"/>
            </a:solidFill>
          </a:ln>
        </p:spPr>
        <p:txBody>
          <a:bodyPr wrap="square" lIns="152400" tIns="152400" rIns="152400" bIns="91440"/>
          <a:lstStyle/>
          <a:p>
            <a:pPr>
              <a:buNone/>
            </a:pPr>
            <a:r>
              <a:rPr lang="en-US" sz="1500" b="1" dirty="0">
                <a:solidFill>
                  <a:srgbClr val="EE822F"/>
                </a:solidFill>
                <a:latin typeface="Arial"/>
              </a:rPr>
              <a:t>Transaction Table</a:t>
            </a:r>
          </a:p>
          <a:p>
            <a:pPr>
              <a:buNone/>
            </a:pPr>
            <a:r>
              <a:rPr lang="en-US" sz="1500" b="0" dirty="0">
                <a:solidFill>
                  <a:srgbClr val="333333"/>
                </a:solidFill>
                <a:latin typeface="Arial"/>
              </a:rPr>
              <a:t>Add a Transaction entity to
track all token movements
(top-ups, purchases, payouts)</a:t>
            </a:r>
          </a:p>
        </p:txBody>
      </p:sp>
      <p:sp>
        <p:nvSpPr>
          <p:cNvPr id="5" name="Box_5"/>
          <p:cNvSpPr txBox="1"/>
          <p:nvPr/>
        </p:nvSpPr>
        <p:spPr>
          <a:xfrm>
            <a:off x="8108932" y="1485800"/>
            <a:ext cx="3625866" cy="2357500"/>
          </a:xfrm>
          <a:prstGeom prst="rect">
            <a:avLst/>
          </a:prstGeom>
          <a:solidFill>
            <a:srgbClr val="538135">
              <a:alpha val="12000"/>
            </a:srgbClr>
          </a:solidFill>
          <a:ln w="18000">
            <a:solidFill>
              <a:srgbClr val="538135"/>
            </a:solidFill>
          </a:ln>
        </p:spPr>
        <p:txBody>
          <a:bodyPr wrap="square" lIns="152400" tIns="152400" rIns="152400" bIns="91440"/>
          <a:lstStyle/>
          <a:p>
            <a:pPr>
              <a:buNone/>
            </a:pPr>
            <a:r>
              <a:rPr lang="en-US" sz="1500" b="1" dirty="0">
                <a:solidFill>
                  <a:srgbClr val="538135"/>
                </a:solidFill>
                <a:latin typeface="Arial"/>
              </a:rPr>
              <a:t>Moderation Auditing</a:t>
            </a:r>
          </a:p>
          <a:p>
            <a:pPr>
              <a:buNone/>
            </a:pPr>
            <a:r>
              <a:rPr lang="en-US" sz="1500" b="0" dirty="0">
                <a:solidFill>
                  <a:srgbClr val="333333"/>
                </a:solidFill>
                <a:latin typeface="Arial"/>
              </a:rPr>
              <a:t>Add ModerationAction table
to log Mute/Kick/Ban events
with admin ID for compliance</a:t>
            </a:r>
          </a:p>
        </p:txBody>
      </p:sp>
      <p:sp>
        <p:nvSpPr>
          <p:cNvPr id="6" name="Box_6"/>
          <p:cNvSpPr txBox="1"/>
          <p:nvPr/>
        </p:nvSpPr>
        <p:spPr>
          <a:xfrm>
            <a:off x="457200" y="4043300"/>
            <a:ext cx="3625866" cy="2357500"/>
          </a:xfrm>
          <a:prstGeom prst="rect">
            <a:avLst/>
          </a:prstGeom>
          <a:solidFill>
            <a:srgbClr val="7030A0">
              <a:alpha val="12000"/>
            </a:srgbClr>
          </a:solidFill>
          <a:ln w="18000">
            <a:solidFill>
              <a:srgbClr val="7030A0"/>
            </a:solidFill>
          </a:ln>
        </p:spPr>
        <p:txBody>
          <a:bodyPr wrap="square" lIns="152400" tIns="152400" rIns="152400" bIns="91440"/>
          <a:lstStyle/>
          <a:p>
            <a:pPr>
              <a:buNone/>
            </a:pPr>
            <a:r>
              <a:rPr lang="en-US" sz="1500" b="1" dirty="0">
                <a:solidFill>
                  <a:srgbClr val="7030A0"/>
                </a:solidFill>
                <a:latin typeface="Arial"/>
              </a:rPr>
              <a:t>Notification Logging</a:t>
            </a:r>
          </a:p>
          <a:p>
            <a:pPr>
              <a:buNone/>
            </a:pPr>
            <a:r>
              <a:rPr lang="en-US" sz="1500" b="0" dirty="0">
                <a:solidFill>
                  <a:srgbClr val="333333"/>
                </a:solidFill>
                <a:latin typeface="Arial"/>
              </a:rPr>
              <a:t>Add Notification table for
missed calls, new tips, and
system alerts</a:t>
            </a:r>
          </a:p>
        </p:txBody>
      </p:sp>
      <p:sp>
        <p:nvSpPr>
          <p:cNvPr id="7" name="Box_7"/>
          <p:cNvSpPr txBox="1"/>
          <p:nvPr/>
        </p:nvSpPr>
        <p:spPr>
          <a:xfrm>
            <a:off x="4283066" y="4043300"/>
            <a:ext cx="3625866" cy="2357500"/>
          </a:xfrm>
          <a:prstGeom prst="rect">
            <a:avLst/>
          </a:prstGeom>
          <a:solidFill>
            <a:srgbClr val="843C0C">
              <a:alpha val="12000"/>
            </a:srgbClr>
          </a:solidFill>
          <a:ln w="18000">
            <a:solidFill>
              <a:srgbClr val="843C0C"/>
            </a:solidFill>
          </a:ln>
        </p:spPr>
        <p:txBody>
          <a:bodyPr wrap="square" lIns="152400" tIns="152400" rIns="152400" bIns="91440"/>
          <a:lstStyle/>
          <a:p>
            <a:pPr>
              <a:buNone/>
            </a:pPr>
            <a:r>
              <a:rPr lang="en-US" sz="1500" b="1" dirty="0">
                <a:solidFill>
                  <a:srgbClr val="843C0C"/>
                </a:solidFill>
                <a:latin typeface="Arial"/>
              </a:rPr>
              <a:t>Provider Level System</a:t>
            </a:r>
          </a:p>
          <a:p>
            <a:pPr>
              <a:buNone/>
            </a:pPr>
            <a:r>
              <a:rPr lang="en-US" sz="1500" b="0" dirty="0">
                <a:solidFill>
                  <a:srgbClr val="333333"/>
                </a:solidFill>
                <a:latin typeface="Arial"/>
              </a:rPr>
              <a:t>Expand level field with
automated tier upgrades
based on total_minutes</a:t>
            </a:r>
          </a:p>
        </p:txBody>
      </p:sp>
      <p:sp>
        <p:nvSpPr>
          <p:cNvPr id="8" name="Box_8"/>
          <p:cNvSpPr txBox="1"/>
          <p:nvPr/>
        </p:nvSpPr>
        <p:spPr>
          <a:xfrm>
            <a:off x="8108932" y="4043300"/>
            <a:ext cx="3625866" cy="2357500"/>
          </a:xfrm>
          <a:prstGeom prst="rect">
            <a:avLst/>
          </a:prstGeom>
          <a:solidFill>
            <a:srgbClr val="2E75B6">
              <a:alpha val="12000"/>
            </a:srgbClr>
          </a:solidFill>
          <a:ln w="18000">
            <a:solidFill>
              <a:srgbClr val="2E75B6"/>
            </a:solidFill>
          </a:ln>
        </p:spPr>
        <p:txBody>
          <a:bodyPr wrap="square" lIns="152400" tIns="152400" rIns="152400" bIns="91440"/>
          <a:lstStyle/>
          <a:p>
            <a:pPr>
              <a:buNone/>
            </a:pPr>
            <a:r>
              <a:rPr lang="en-US" sz="1500" b="1" dirty="0">
                <a:solidFill>
                  <a:srgbClr val="2E75B6"/>
                </a:solidFill>
                <a:latin typeface="Arial"/>
              </a:rPr>
              <a:t>Full-Text Search Index</a:t>
            </a:r>
          </a:p>
          <a:p>
            <a:pPr>
              <a:buNone/>
            </a:pPr>
            <a:r>
              <a:rPr lang="en-US" sz="1500" b="0" dirty="0">
                <a:solidFill>
                  <a:srgbClr val="333333"/>
                </a:solidFill>
                <a:latin typeface="Arial"/>
              </a:rPr>
              <a:t>Add indexed views or
full-text search on tags
for faster BI queries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CC51D1-FE69-0E98-DEF7-0EAAB1306D1E}"/>
              </a:ext>
            </a:extLst>
          </p:cNvPr>
          <p:cNvSpPr>
            <a:spLocks noGrp="1"/>
          </p:cNvSpPr>
          <p:nvPr>
            <p:ph idx="1"/>
          </p:nvPr>
        </p:nvSpPr>
        <p:spPr/>
        <p:txBody>
          <a:bodyPr vert="horz" lIns="91440" tIns="45720" rIns="91440" bIns="45720" rtlCol="0" anchor="t">
            <a:normAutofit/>
          </a:bodyPr>
          <a:lstStyle/>
          <a:p>
            <a:pPr marL="0" indent="0" algn="ctr">
              <a:buNone/>
            </a:pPr>
            <a:r>
              <a:rPr lang="en-US" sz="4800"/>
              <a:t>Thank You For Your Time</a:t>
            </a:r>
          </a:p>
        </p:txBody>
      </p:sp>
      <p:sp>
        <p:nvSpPr>
          <p:cNvPr id="4" name="Date Placeholder 3">
            <a:extLst>
              <a:ext uri="{FF2B5EF4-FFF2-40B4-BE49-F238E27FC236}">
                <a16:creationId xmlns:a16="http://schemas.microsoft.com/office/drawing/2014/main" id="{482AAA77-BACA-D4AE-6ABB-A055B1B068C2}"/>
              </a:ext>
            </a:extLst>
          </p:cNvPr>
          <p:cNvSpPr>
            <a:spLocks noGrp="1"/>
          </p:cNvSpPr>
          <p:nvPr>
            <p:ph type="dt" sz="half" idx="10"/>
          </p:nvPr>
        </p:nvSpPr>
        <p:spPr/>
        <p:txBody>
          <a:bodyPr/>
          <a:lstStyle/>
          <a:p>
            <a:fld id="{4C93B866-6ABE-46ED-91A2-17B7782B3F35}" type="datetime1">
              <a:rPr lang="en-US"/>
              <a:t>4/11/26</a:t>
            </a:fld>
            <a:endParaRPr lang="en-US"/>
          </a:p>
        </p:txBody>
      </p:sp>
      <p:sp>
        <p:nvSpPr>
          <p:cNvPr id="6" name="Slide Number Placeholder 5">
            <a:extLst>
              <a:ext uri="{FF2B5EF4-FFF2-40B4-BE49-F238E27FC236}">
                <a16:creationId xmlns:a16="http://schemas.microsoft.com/office/drawing/2014/main" id="{4DA1717A-2813-979E-363A-5E87018337D7}"/>
              </a:ext>
            </a:extLst>
          </p:cNvPr>
          <p:cNvSpPr>
            <a:spLocks noGrp="1"/>
          </p:cNvSpPr>
          <p:nvPr>
            <p:ph type="sldNum" sz="quarter" idx="12"/>
          </p:nvPr>
        </p:nvSpPr>
        <p:spPr/>
        <p:txBody>
          <a:bodyPr/>
          <a:lstStyle/>
          <a:p>
            <a:fld id="{A65A5C87-DF58-40C8-B092-1DE63DB4547E}" type="slidenum">
              <a:rPr lang="en-US" dirty="0"/>
              <a:t>15</a:t>
            </a:fld>
            <a:endParaRPr lang="en-US"/>
          </a:p>
        </p:txBody>
      </p:sp>
    </p:spTree>
    <p:extLst>
      <p:ext uri="{BB962C8B-B14F-4D97-AF65-F5344CB8AC3E}">
        <p14:creationId xmlns:p14="http://schemas.microsoft.com/office/powerpoint/2010/main" val="30620955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TotalTime>
  <Words>2316</Words>
  <Application>Microsoft Macintosh PowerPoint</Application>
  <PresentationFormat>Widescreen</PresentationFormat>
  <Paragraphs>218</Paragraphs>
  <Slides>15</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Consolas</vt:lpstr>
      <vt:lpstr>Times New Roman</vt:lpstr>
      <vt:lpstr>Wingdings</vt:lpstr>
      <vt:lpstr>WPS</vt:lpstr>
      <vt:lpstr>Voice-Call Chat &amp; Social Interaction Platform Database  </vt:lpstr>
      <vt:lpstr>Business Problem</vt:lpstr>
      <vt:lpstr>System Overview</vt:lpstr>
      <vt:lpstr>Mission Objectives</vt:lpstr>
      <vt:lpstr>Entity List &amp; Relationship Descriptions </vt:lpstr>
      <vt:lpstr>PowerPoint Presentation</vt:lpstr>
      <vt:lpstr>Final ERD</vt:lpstr>
      <vt:lpstr>SQL File Structure:</vt:lpstr>
      <vt:lpstr>SQL DDL Implementation</vt:lpstr>
      <vt:lpstr>Views: Query Results</vt:lpstr>
      <vt:lpstr>View 3: Member Room Activity Summary</vt:lpstr>
      <vt:lpstr>PowerPoint Presentation</vt:lpstr>
      <vt:lpstr>PowerPoint Presentation</vt:lpstr>
      <vt:lpstr>Further Improvements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Tan Li</cp:lastModifiedBy>
  <cp:revision>166</cp:revision>
  <dcterms:created xsi:type="dcterms:W3CDTF">2019-06-19T02:08:00Z</dcterms:created>
  <dcterms:modified xsi:type="dcterms:W3CDTF">2026-04-11T19:43:14Z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BA63445FD2114BE8BD24894793FF1E01_11</vt:lpwstr>
  </property>
</Properties>
</file>